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c:v>
                </c:pt>
              </c:strCache>
            </c:strRef>
          </c:tx>
          <c:spPr>
            <a:solidFill>
              <a:srgbClr val="2E7D46"/>
            </a:solidFill>
            <a:effectLst/>
          </c:spPr>
          <c:invertIfNegative val="0"/>
          <c:dLbls>
            <c:numFmt formatCode="0.#&quot;%&quot;" sourceLinked="0"/>
            <c:txPr>
              <a:bodyPr/>
              <a:lstStyle/>
              <a:p>
                <a:pPr>
                  <a:defRPr b="1" i="0" strike="noStrike" sz="1600" u="none">
                    <a:solidFill>
                      <a:srgbClr val="1C2B21"/>
                    </a:solidFill>
                    <a:latin typeface="Arial"/>
                  </a:defRPr>
                </a:pPr>
              </a:p>
            </c:txPr>
            <c:showLegendKey val="0"/>
            <c:showVal val="1"/>
            <c:showCatName val="0"/>
            <c:showSerName val="0"/>
            <c:showPercent val="0"/>
            <c:showBubbleSize val="0"/>
            <c:showLeaderLines val="0"/>
          </c:dLbls>
          <c:dPt>
            <c:idx val="0"/>
            <c:invertIfNegative val="0"/>
            <c:bubble3D val="0"/>
            <c:spPr>
              <a:solidFill>
                <a:srgbClr val="2E7D46"/>
              </a:solidFill>
              <a:effectLst/>
            </c:spPr>
          </c:dPt>
          <c:dPt>
            <c:idx val="1"/>
            <c:invertIfNegative val="0"/>
            <c:bubble3D val="0"/>
            <c:spPr>
              <a:solidFill>
                <a:srgbClr val="F0A828"/>
              </a:solidFill>
              <a:effectLst/>
            </c:spPr>
          </c:dPt>
          <c:dPt>
            <c:idx val="2"/>
            <c:invertIfNegative val="0"/>
            <c:bubble3D val="0"/>
            <c:spPr>
              <a:solidFill>
                <a:srgbClr val="B85042"/>
              </a:solidFill>
              <a:effectLst/>
            </c:spPr>
          </c:dPt>
          <c:cat>
            <c:multiLvlStrRef>
              <c:f>Sheet1!$A$2:$A$4</c:f>
              <c:multiLvlStrCache>
                <c:ptCount val="3"/>
                <c:lvl>
                  <c:pt idx="0">
                    <c:v>Share of GDP (direct)</c:v>
                  </c:pt>
                  <c:pt idx="1">
                    <c:v>Share of employment</c:v>
                  </c:pt>
                  <c:pt idx="2">
                    <c:v>Share of bank credit</c:v>
                  </c:pt>
                </c:lvl>
              </c:multiLvlStrCache>
            </c:multiLvlStrRef>
          </c:cat>
          <c:val>
            <c:numRef>
              <c:f>Sheet1!$B$2:$B$4</c:f>
              <c:numCache>
                <c:formatCode>General</c:formatCode>
                <c:ptCount val="3"/>
                <c:pt idx="0">
                  <c:v>21.8</c:v>
                </c:pt>
                <c:pt idx="1">
                  <c:v>40</c:v>
                </c:pt>
                <c:pt idx="2">
                  <c:v>3.7</c:v>
                </c:pt>
              </c:numCache>
            </c:numRef>
          </c:val>
        </c:ser>
        <c:dLbls>
          <c:numFmt formatCode="0.#&quot;%&quot;" sourceLinked="0"/>
          <c:txPr>
            <a:bodyPr/>
            <a:lstStyle/>
            <a:p>
              <a:pPr>
                <a:defRPr b="1" i="0" strike="noStrike" sz="1600" u="none">
                  <a:solidFill>
                    <a:srgbClr val="1C2B2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C2B21"/>
                </a:solidFill>
                <a:latin typeface="Arial"/>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E2E8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A8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(opener) — ~40 seconds
"Good [morning], judges. Every one of us in this room ate something today that started on a farm smaller than a football pitch. Kenya has 4.5 million of those farms. They feed this country — and yet the farmer who grew your breakfast cannot borrow five thousand shillings from a bank. We are [team name], and we built MavunoAI to change that. Our one-line pitch: M-PESA turned airtime behaviour into credit history. We turn harvests into credit history."
TIP: Memorise the last two sentences — deliver them slowly, looking at the judges, not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~60 seconds
Walk the three cards left to right. Key line: "These are not three problems. They are one problem wearing three masks — the farmer is invisible: invisible to the agronomist, invisible to the market, invisible to the bank."
NUMBERS TO OWN IF ASKED: FAO estimates 20-40% of yields lost to pests/disease globally; Kenya's extension ratio ~1:1,000 vs FAO's recommended 1:400; CBK bank supervision reports put agricultural lending below 4% of gross loans while agriculture is ~21.8% of GDP (KNBS).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~45 seconds
Make it human. "Amina is real — she is the demo account you are about to see. Five seasons, twelve tonnes, half a million shillings of produce... and she is thin-file. The system has no file on the most productive thing she does." Pause. "Watch what happens when her farming itself becomes the file."
TRANSITION: hand straight into the solution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~60 seconds
Present the three pillars fast, then SLOW DOWN on "the loop" line — that is the architecture of the win. "Competitors built a diagnosis app OR a price app OR a lender. We built the loop that connects them: the better she farms, the more she can borrow. And the 40% of rural Kenya on feature phones? Same backend, over USSD."
TRANSITION: "Don't take our word for it — let us show you." →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drives the laptop; PRESENTER 2 narrates — ~3 minutes total, rehearse to 2:30.
DEMO CHECKLIST (before you go on stage):
1. Delete mavuno.db to reset Amina to the clean seeded state, then run: node server.js
2. Open http://localhost:4500 and leave it on the dashboard.
3. Have 2-3 real diseased-leaf photos saved on the desktop.
KEY MOMENTS: after the loan approval say NOTHING for two seconds — let the "approved" toast sit on screen. Then: "No payslip. No title deed. Just her harvests."
IF WIFI DIES: nothing changes — the entire system runs locally. Say so out loud; it lands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~60 seconds
This is the slide that wins the fintech track. Explain: "Five signals, all from data the farmer creates by using the app. The score starts at 300 and is EARNED. And unlike Apollo Agriculture's satellite scoring or telco black boxes, Amina can see exactly why she scores 733 and exactly what raises it. A transparent score changes farmer behaviour — that is the flywheel."
IF ASKED "can't farmers fake harvests?": phase 2 counter-verifies via cooperative delivery records and buyer confirmations; self-reported data is discounted until verified; and lending starts small and grows with repayment — the same trust-laddering M-Shwari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~60 seconds
This is the "investability" slide. Land the four forces quickly, then the market math slowly. "We are not asking Kenya to believe something new. Kenya already believes in behavioural credit — it invented it at scale. We are pointing that belief at the largest under-served sector in the economy."
IF ASKED about regulation: digital credit providers are licensed under CBK's Digital Credit Providers Regulations 2022 — our model is to partner with licensed SACCOs/MFIs via API rather than lend off our own balance sheet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~25 seconds
One sentence, then silence: "Agriculture employs four in ten Kenyans, produces a fifth of GDP — and receives under four percent of bank credit. That red bar is the business we are in." Let the chart breathe.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~40 seconds
Judges see a hundred demos held together with tape. Differentiate: "We wrote 29 automated tests. They caught four real defects — including a bias in our own credit model that under-scored farmers who grow high-value, low-weight crops like tomatoes. We fixed it and regression-tested it. That is the engineering culture we would bring to your accelerator."
IF ASKED "why no framework?": deliberate — zero dependencies means zero supply-chain risk, instant setup, and it proves we understand what the frameworks do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~45 seconds
Answer the judges' unspoken question — "how does this make money without exploiting farmers?" — before they ask it. Emphasise: free for the farmer; revenue comes from lenders, input suppliers and insurers who all profit when the farmer succeeds. "Our incentives point the same direction as Amina's harvest."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~30 seconds
Keep it brisk. The message is sequencing discipline: "Nothing on this roadmap requires invention — every phase is integration of things that already exist. The prototype is done. The next step is one cooperative, one county, one SACCO."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(closer — same person who opened, for symmetry) — ~30 seconds
Slow, direct, eyes up: "Amina fed Kenya for five seasons. Starting today, Kenya can bank on her. We are MavunoAI — we turn harvests into credit history. Our ask is simple: one cooperative, one SACCO, one season. Asante sana."
Then the WHOLE TEAM stands for Q&amp;A. Presenter assignments for likely questions are in the presenter guide (PRESENTER-GUIDE.md).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A"/>
        </a:solidFill>
      </p:bgPr>
    </p:bg>
    <p:spTree>
      <p:nvGrpSpPr>
        <p:cNvPr id="1" name=""/>
        <p:cNvGrpSpPr/>
        <p:nvPr/>
      </p:nvGrpSpPr>
      <p:grpSpPr>
        <a:xfrm>
          <a:off x="0" y="0"/>
          <a:ext cx="0" cy="0"/>
          <a:chOff x="0" y="0"/>
          <a:chExt cx="0" cy="0"/>
        </a:xfrm>
      </p:grpSpPr>
      <p:sp>
        <p:nvSpPr>
          <p:cNvPr id="2" name="Text 0"/>
          <p:cNvSpPr/>
          <p:nvPr/>
        </p:nvSpPr>
        <p:spPr>
          <a:xfrm>
            <a:off x="594360" y="777240"/>
            <a:ext cx="1097280" cy="1005840"/>
          </a:xfrm>
          <a:prstGeom prst="rect">
            <a:avLst/>
          </a:prstGeom>
          <a:noFill/>
          <a:ln/>
        </p:spPr>
        <p:txBody>
          <a:bodyPr wrap="square" lIns="0" tIns="0" rIns="0" bIns="0" rtlCol="0" anchor="ctr"/>
          <a:lstStyle/>
          <a:p>
            <a:pPr indent="0" marL="0">
              <a:buNone/>
            </a:pPr>
            <a:r>
              <a:rPr lang="en-US" sz="5400" dirty="0">
                <a:solidFill>
                  <a:srgbClr val="000000"/>
                </a:solidFill>
              </a:rPr>
              <a:t>🌾</a:t>
            </a:r>
            <a:endParaRPr lang="en-US" sz="5400" dirty="0"/>
          </a:p>
        </p:txBody>
      </p:sp>
      <p:sp>
        <p:nvSpPr>
          <p:cNvPr id="3" name="Text 1"/>
          <p:cNvSpPr/>
          <p:nvPr/>
        </p:nvSpPr>
        <p:spPr>
          <a:xfrm>
            <a:off x="548640" y="1828800"/>
            <a:ext cx="10972800" cy="1234440"/>
          </a:xfrm>
          <a:prstGeom prst="rect">
            <a:avLst/>
          </a:prstGeom>
          <a:noFill/>
          <a:ln/>
        </p:spPr>
        <p:txBody>
          <a:bodyPr wrap="square" lIns="0" tIns="0" rIns="0" bIns="0" rtlCol="0" anchor="ctr"/>
          <a:lstStyle/>
          <a:p>
            <a:pPr indent="0" marL="0">
              <a:buNone/>
            </a:pPr>
            <a:r>
              <a:rPr lang="en-US" sz="7200" b="1" dirty="0">
                <a:solidFill>
                  <a:srgbClr val="F2ECD9"/>
                </a:solidFill>
                <a:latin typeface="Bookman Old Style" pitchFamily="34" charset="0"/>
                <a:ea typeface="Bookman Old Style" pitchFamily="34" charset="-122"/>
                <a:cs typeface="Bookman Old Style" pitchFamily="34" charset="-120"/>
              </a:rPr>
              <a:t>MavunoAI</a:t>
            </a:r>
            <a:endParaRPr lang="en-US" sz="7200" dirty="0"/>
          </a:p>
        </p:txBody>
      </p:sp>
      <p:sp>
        <p:nvSpPr>
          <p:cNvPr id="4" name="Text 2"/>
          <p:cNvSpPr/>
          <p:nvPr/>
        </p:nvSpPr>
        <p:spPr>
          <a:xfrm>
            <a:off x="548640" y="3063240"/>
            <a:ext cx="10972800" cy="640080"/>
          </a:xfrm>
          <a:prstGeom prst="rect">
            <a:avLst/>
          </a:prstGeom>
          <a:noFill/>
          <a:ln/>
        </p:spPr>
        <p:txBody>
          <a:bodyPr wrap="square" lIns="0" tIns="0" rIns="0" bIns="0" rtlCol="0" anchor="ctr"/>
          <a:lstStyle/>
          <a:p>
            <a:pPr indent="0" marL="0">
              <a:buNone/>
            </a:pPr>
            <a:r>
              <a:rPr lang="en-US" sz="3000" dirty="0">
                <a:solidFill>
                  <a:srgbClr val="F2ECD9"/>
                </a:solidFill>
                <a:latin typeface="Bookman Old Style" pitchFamily="34" charset="0"/>
                <a:ea typeface="Bookman Old Style" pitchFamily="34" charset="-122"/>
                <a:cs typeface="Bookman Old Style" pitchFamily="34" charset="-120"/>
              </a:rPr>
              <a:t>Turning harvests into </a:t>
            </a:r>
            <a:pPr indent="0" marL="0">
              <a:buNone/>
            </a:pPr>
            <a:r>
              <a:rPr lang="en-US" sz="3000" i="1" dirty="0">
                <a:solidFill>
                  <a:srgbClr val="F0A828"/>
                </a:solidFill>
                <a:latin typeface="Bookman Old Style" pitchFamily="34" charset="0"/>
                <a:ea typeface="Bookman Old Style" pitchFamily="34" charset="-122"/>
                <a:cs typeface="Bookman Old Style" pitchFamily="34" charset="-120"/>
              </a:rPr>
              <a:t>credit history.</a:t>
            </a:r>
            <a:endParaRPr lang="en-US" sz="3000" dirty="0"/>
          </a:p>
        </p:txBody>
      </p:sp>
      <p:sp>
        <p:nvSpPr>
          <p:cNvPr id="5" name="Text 3"/>
          <p:cNvSpPr/>
          <p:nvPr/>
        </p:nvSpPr>
        <p:spPr>
          <a:xfrm>
            <a:off x="548640" y="3886200"/>
            <a:ext cx="8686800" cy="457200"/>
          </a:xfrm>
          <a:prstGeom prst="rect">
            <a:avLst/>
          </a:prstGeom>
          <a:noFill/>
          <a:ln/>
        </p:spPr>
        <p:txBody>
          <a:bodyPr wrap="square" lIns="0" tIns="0" rIns="0" bIns="0" rtlCol="0" anchor="ctr"/>
          <a:lstStyle/>
          <a:p>
            <a:pPr indent="0" marL="0">
              <a:buNone/>
            </a:pPr>
            <a:r>
              <a:rPr lang="en-US" sz="1600" dirty="0">
                <a:solidFill>
                  <a:srgbClr val="BDB79F"/>
                </a:solidFill>
                <a:latin typeface="Calibri" pitchFamily="34" charset="0"/>
                <a:ea typeface="Calibri" pitchFamily="34" charset="-122"/>
                <a:cs typeface="Calibri" pitchFamily="34" charset="-120"/>
              </a:rPr>
              <a:t>Farm intelligence + agricultural credit scoring for Kenya's 4.5 million smallholder farmers</a:t>
            </a:r>
            <a:endParaRPr lang="en-US" sz="1600" dirty="0"/>
          </a:p>
        </p:txBody>
      </p:sp>
      <p:sp>
        <p:nvSpPr>
          <p:cNvPr id="6" name="Text 4"/>
          <p:cNvSpPr/>
          <p:nvPr/>
        </p:nvSpPr>
        <p:spPr>
          <a:xfrm>
            <a:off x="548640" y="5394960"/>
            <a:ext cx="4572000" cy="365760"/>
          </a:xfrm>
          <a:prstGeom prst="rect">
            <a:avLst/>
          </a:prstGeom>
          <a:noFill/>
          <a:ln/>
        </p:spPr>
        <p:txBody>
          <a:bodyPr wrap="square" lIns="0" tIns="0" rIns="0" bIns="0" rtlCol="0" anchor="ctr"/>
          <a:lstStyle/>
          <a:p>
            <a:pPr indent="0" marL="0">
              <a:buNone/>
            </a:pPr>
            <a:r>
              <a:rPr lang="en-US" sz="1400" b="1" spc="400" kern="0" dirty="0">
                <a:solidFill>
                  <a:srgbClr val="F0A828"/>
                </a:solidFill>
                <a:latin typeface="Calibri" pitchFamily="34" charset="0"/>
                <a:ea typeface="Calibri" pitchFamily="34" charset="-122"/>
                <a:cs typeface="Calibri" pitchFamily="34" charset="-120"/>
              </a:rPr>
              <a:t>AGRI-TECH  ×  FIN-TECH</a:t>
            </a:r>
            <a:endParaRPr lang="en-US" sz="1400" dirty="0"/>
          </a:p>
        </p:txBody>
      </p:sp>
      <p:sp>
        <p:nvSpPr>
          <p:cNvPr id="7" name="Text 5"/>
          <p:cNvSpPr/>
          <p:nvPr/>
        </p:nvSpPr>
        <p:spPr>
          <a:xfrm>
            <a:off x="548640" y="5852160"/>
            <a:ext cx="10972800" cy="365760"/>
          </a:xfrm>
          <a:prstGeom prst="rect">
            <a:avLst/>
          </a:prstGeom>
          <a:noFill/>
          <a:ln/>
        </p:spPr>
        <p:txBody>
          <a:bodyPr wrap="square" lIns="0" tIns="0" rIns="0" bIns="0" rtlCol="0" anchor="ctr"/>
          <a:lstStyle/>
          <a:p>
            <a:pPr indent="0" marL="0">
              <a:buNone/>
            </a:pPr>
            <a:r>
              <a:rPr lang="en-US" sz="1300" dirty="0">
                <a:solidFill>
                  <a:srgbClr val="BDB79F"/>
                </a:solidFill>
                <a:latin typeface="Calibri" pitchFamily="34" charset="0"/>
                <a:ea typeface="Calibri" pitchFamily="34" charset="-122"/>
                <a:cs typeface="Calibri" pitchFamily="34" charset="-120"/>
              </a:rPr>
              <a:t>[Team name] — [Member 1] · [Member 2] · [Member 3] · [Member 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Three exclusions crush the smallholder farmer</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1</a:t>
            </a:r>
            <a:endParaRPr lang="en-US" sz="1100" dirty="0"/>
          </a:p>
        </p:txBody>
      </p:sp>
      <p:sp>
        <p:nvSpPr>
          <p:cNvPr id="5" name="Shape 3"/>
          <p:cNvSpPr/>
          <p:nvPr/>
        </p:nvSpPr>
        <p:spPr>
          <a:xfrm>
            <a:off x="548640" y="1828800"/>
            <a:ext cx="3611880" cy="4023360"/>
          </a:xfrm>
          <a:prstGeom prst="roundRect">
            <a:avLst>
              <a:gd name="adj" fmla="val 2278"/>
            </a:avLst>
          </a:prstGeom>
          <a:solidFill>
            <a:srgbClr val="F1F4EE"/>
          </a:solidFill>
          <a:ln/>
        </p:spPr>
      </p:sp>
      <p:sp>
        <p:nvSpPr>
          <p:cNvPr id="6" name="Text 4"/>
          <p:cNvSpPr/>
          <p:nvPr/>
        </p:nvSpPr>
        <p:spPr>
          <a:xfrm>
            <a:off x="777240" y="2029968"/>
            <a:ext cx="3154680" cy="1770278"/>
          </a:xfrm>
          <a:prstGeom prst="rect">
            <a:avLst/>
          </a:prstGeom>
          <a:noFill/>
          <a:ln/>
        </p:spPr>
        <p:txBody>
          <a:bodyPr wrap="square" lIns="0" tIns="0" rIns="0" bIns="0" rtlCol="0" anchor="ctr"/>
          <a:lstStyle/>
          <a:p>
            <a:pPr indent="0" marL="0">
              <a:buNone/>
            </a:pPr>
            <a:r>
              <a:rPr lang="en-US" sz="4000" b="1" dirty="0">
                <a:solidFill>
                  <a:srgbClr val="F0A828"/>
                </a:solidFill>
                <a:latin typeface="Bookman Old Style" pitchFamily="34" charset="0"/>
                <a:ea typeface="Bookman Old Style" pitchFamily="34" charset="-122"/>
                <a:cs typeface="Bookman Old Style" pitchFamily="34" charset="-120"/>
              </a:rPr>
              <a:t>20–40%</a:t>
            </a:r>
            <a:endParaRPr lang="en-US" sz="4000" dirty="0"/>
          </a:p>
        </p:txBody>
      </p:sp>
      <p:sp>
        <p:nvSpPr>
          <p:cNvPr id="7" name="Text 5"/>
          <p:cNvSpPr/>
          <p:nvPr/>
        </p:nvSpPr>
        <p:spPr>
          <a:xfrm>
            <a:off x="777240" y="3920947"/>
            <a:ext cx="3154680" cy="365760"/>
          </a:xfrm>
          <a:prstGeom prst="rect">
            <a:avLst/>
          </a:prstGeom>
          <a:noFill/>
          <a:ln/>
        </p:spPr>
        <p:txBody>
          <a:bodyPr wrap="square" lIns="0" tIns="0" rIns="0" bIns="0" rtlCol="0" anchor="ctr"/>
          <a:lstStyle/>
          <a:p>
            <a:pPr indent="0" marL="0">
              <a:buNone/>
            </a:pPr>
            <a:r>
              <a:rPr lang="en-US" sz="1500" b="1" dirty="0">
                <a:solidFill>
                  <a:srgbClr val="1C2B21"/>
                </a:solidFill>
                <a:latin typeface="Calibri" pitchFamily="34" charset="0"/>
                <a:ea typeface="Calibri" pitchFamily="34" charset="-122"/>
                <a:cs typeface="Calibri" pitchFamily="34" charset="-120"/>
              </a:rPr>
              <a:t>of yield lost to disease</a:t>
            </a:r>
            <a:endParaRPr lang="en-US" sz="1500" dirty="0"/>
          </a:p>
        </p:txBody>
      </p:sp>
      <p:sp>
        <p:nvSpPr>
          <p:cNvPr id="8" name="Text 6"/>
          <p:cNvSpPr/>
          <p:nvPr/>
        </p:nvSpPr>
        <p:spPr>
          <a:xfrm>
            <a:off x="777240" y="4286707"/>
            <a:ext cx="3154680" cy="1428293"/>
          </a:xfrm>
          <a:prstGeom prst="rect">
            <a:avLst/>
          </a:prstGeom>
          <a:noFill/>
          <a:ln/>
        </p:spPr>
        <p:txBody>
          <a:bodyPr wrap="square" lIns="0" tIns="0" rIns="0" bIns="0" rtlCol="0" anchor="ctr"/>
          <a:lstStyle/>
          <a:p>
            <a:pPr indent="0" marL="0">
              <a:buNone/>
            </a:pPr>
            <a:r>
              <a:rPr lang="en-US" sz="1150" dirty="0">
                <a:solidFill>
                  <a:srgbClr val="5A6B5D"/>
                </a:solidFill>
                <a:latin typeface="Calibri" pitchFamily="34" charset="0"/>
                <a:ea typeface="Calibri" pitchFamily="34" charset="-122"/>
                <a:cs typeface="Calibri" pitchFamily="34" charset="-120"/>
              </a:rPr>
              <a:t>Pests and disease destroy up to four bags in every ten (FAO). One extension officer serves ~1,000 farmers — help arrives after the field is gone.</a:t>
            </a:r>
            <a:endParaRPr lang="en-US" sz="1150" dirty="0"/>
          </a:p>
        </p:txBody>
      </p:sp>
      <p:sp>
        <p:nvSpPr>
          <p:cNvPr id="9" name="Shape 7"/>
          <p:cNvSpPr/>
          <p:nvPr/>
        </p:nvSpPr>
        <p:spPr>
          <a:xfrm>
            <a:off x="4288536" y="1828800"/>
            <a:ext cx="3611880" cy="4023360"/>
          </a:xfrm>
          <a:prstGeom prst="roundRect">
            <a:avLst>
              <a:gd name="adj" fmla="val 2278"/>
            </a:avLst>
          </a:prstGeom>
          <a:solidFill>
            <a:srgbClr val="F1F4EE"/>
          </a:solidFill>
          <a:ln/>
        </p:spPr>
      </p:sp>
      <p:sp>
        <p:nvSpPr>
          <p:cNvPr id="10" name="Text 8"/>
          <p:cNvSpPr/>
          <p:nvPr/>
        </p:nvSpPr>
        <p:spPr>
          <a:xfrm>
            <a:off x="4517136" y="2029968"/>
            <a:ext cx="3154680" cy="1770278"/>
          </a:xfrm>
          <a:prstGeom prst="rect">
            <a:avLst/>
          </a:prstGeom>
          <a:noFill/>
          <a:ln/>
        </p:spPr>
        <p:txBody>
          <a:bodyPr wrap="square" lIns="0" tIns="0" rIns="0" bIns="0" rtlCol="0" anchor="ctr"/>
          <a:lstStyle/>
          <a:p>
            <a:pPr indent="0" marL="0">
              <a:buNone/>
            </a:pPr>
            <a:r>
              <a:rPr lang="en-US" sz="4000" b="1" dirty="0">
                <a:solidFill>
                  <a:srgbClr val="F0A828"/>
                </a:solidFill>
                <a:latin typeface="Bookman Old Style" pitchFamily="34" charset="0"/>
                <a:ea typeface="Bookman Old Style" pitchFamily="34" charset="-122"/>
                <a:cs typeface="Bookman Old Style" pitchFamily="34" charset="-120"/>
              </a:rPr>
              <a:t>40–60%</a:t>
            </a:r>
            <a:endParaRPr lang="en-US" sz="4000" dirty="0"/>
          </a:p>
        </p:txBody>
      </p:sp>
      <p:sp>
        <p:nvSpPr>
          <p:cNvPr id="11" name="Text 9"/>
          <p:cNvSpPr/>
          <p:nvPr/>
        </p:nvSpPr>
        <p:spPr>
          <a:xfrm>
            <a:off x="4517136" y="3920947"/>
            <a:ext cx="3154680" cy="365760"/>
          </a:xfrm>
          <a:prstGeom prst="rect">
            <a:avLst/>
          </a:prstGeom>
          <a:noFill/>
          <a:ln/>
        </p:spPr>
        <p:txBody>
          <a:bodyPr wrap="square" lIns="0" tIns="0" rIns="0" bIns="0" rtlCol="0" anchor="ctr"/>
          <a:lstStyle/>
          <a:p>
            <a:pPr indent="0" marL="0">
              <a:buNone/>
            </a:pPr>
            <a:r>
              <a:rPr lang="en-US" sz="1500" b="1" dirty="0">
                <a:solidFill>
                  <a:srgbClr val="1C2B21"/>
                </a:solidFill>
                <a:latin typeface="Calibri" pitchFamily="34" charset="0"/>
                <a:ea typeface="Calibri" pitchFamily="34" charset="-122"/>
                <a:cs typeface="Calibri" pitchFamily="34" charset="-120"/>
              </a:rPr>
              <a:t>of the price taken by middlemen</a:t>
            </a:r>
            <a:endParaRPr lang="en-US" sz="1500" dirty="0"/>
          </a:p>
        </p:txBody>
      </p:sp>
      <p:sp>
        <p:nvSpPr>
          <p:cNvPr id="12" name="Text 10"/>
          <p:cNvSpPr/>
          <p:nvPr/>
        </p:nvSpPr>
        <p:spPr>
          <a:xfrm>
            <a:off x="4517136" y="4286707"/>
            <a:ext cx="3154680" cy="1428293"/>
          </a:xfrm>
          <a:prstGeom prst="rect">
            <a:avLst/>
          </a:prstGeom>
          <a:noFill/>
          <a:ln/>
        </p:spPr>
        <p:txBody>
          <a:bodyPr wrap="square" lIns="0" tIns="0" rIns="0" bIns="0" rtlCol="0" anchor="ctr"/>
          <a:lstStyle/>
          <a:p>
            <a:pPr indent="0" marL="0">
              <a:buNone/>
            </a:pPr>
            <a:r>
              <a:rPr lang="en-US" sz="1150" dirty="0">
                <a:solidFill>
                  <a:srgbClr val="5A6B5D"/>
                </a:solidFill>
                <a:latin typeface="Calibri" pitchFamily="34" charset="0"/>
                <a:ea typeface="Calibri" pitchFamily="34" charset="-122"/>
                <a:cs typeface="Calibri" pitchFamily="34" charset="-120"/>
              </a:rPr>
              <a:t>The farmer sells at whatever the broker quotes at the farm gate. Same-day maize prices differ 25%+ between Kisumu and Nairobi — the farmer never sees it.</a:t>
            </a:r>
            <a:endParaRPr lang="en-US" sz="1150" dirty="0"/>
          </a:p>
        </p:txBody>
      </p:sp>
      <p:sp>
        <p:nvSpPr>
          <p:cNvPr id="13" name="Shape 11"/>
          <p:cNvSpPr/>
          <p:nvPr/>
        </p:nvSpPr>
        <p:spPr>
          <a:xfrm>
            <a:off x="8028432" y="1828800"/>
            <a:ext cx="3611880" cy="4023360"/>
          </a:xfrm>
          <a:prstGeom prst="roundRect">
            <a:avLst>
              <a:gd name="adj" fmla="val 2278"/>
            </a:avLst>
          </a:prstGeom>
          <a:solidFill>
            <a:srgbClr val="F1F4EE"/>
          </a:solidFill>
          <a:ln/>
        </p:spPr>
      </p:sp>
      <p:sp>
        <p:nvSpPr>
          <p:cNvPr id="14" name="Text 12"/>
          <p:cNvSpPr/>
          <p:nvPr/>
        </p:nvSpPr>
        <p:spPr>
          <a:xfrm>
            <a:off x="8257032" y="2029968"/>
            <a:ext cx="3154680" cy="1770278"/>
          </a:xfrm>
          <a:prstGeom prst="rect">
            <a:avLst/>
          </a:prstGeom>
          <a:noFill/>
          <a:ln/>
        </p:spPr>
        <p:txBody>
          <a:bodyPr wrap="square" lIns="0" tIns="0" rIns="0" bIns="0" rtlCol="0" anchor="ctr"/>
          <a:lstStyle/>
          <a:p>
            <a:pPr indent="0" marL="0">
              <a:buNone/>
            </a:pPr>
            <a:r>
              <a:rPr lang="en-US" sz="4000" b="1" dirty="0">
                <a:solidFill>
                  <a:srgbClr val="F0A828"/>
                </a:solidFill>
                <a:latin typeface="Bookman Old Style" pitchFamily="34" charset="0"/>
                <a:ea typeface="Bookman Old Style" pitchFamily="34" charset="-122"/>
                <a:cs typeface="Bookman Old Style" pitchFamily="34" charset="-120"/>
              </a:rPr>
              <a:t>&lt; 4%</a:t>
            </a:r>
            <a:endParaRPr lang="en-US" sz="4000" dirty="0"/>
          </a:p>
        </p:txBody>
      </p:sp>
      <p:sp>
        <p:nvSpPr>
          <p:cNvPr id="15" name="Text 13"/>
          <p:cNvSpPr/>
          <p:nvPr/>
        </p:nvSpPr>
        <p:spPr>
          <a:xfrm>
            <a:off x="8257032" y="3920947"/>
            <a:ext cx="3154680" cy="365760"/>
          </a:xfrm>
          <a:prstGeom prst="rect">
            <a:avLst/>
          </a:prstGeom>
          <a:noFill/>
          <a:ln/>
        </p:spPr>
        <p:txBody>
          <a:bodyPr wrap="square" lIns="0" tIns="0" rIns="0" bIns="0" rtlCol="0" anchor="ctr"/>
          <a:lstStyle/>
          <a:p>
            <a:pPr indent="0" marL="0">
              <a:buNone/>
            </a:pPr>
            <a:r>
              <a:rPr lang="en-US" sz="1500" b="1" dirty="0">
                <a:solidFill>
                  <a:srgbClr val="1C2B21"/>
                </a:solidFill>
                <a:latin typeface="Calibri" pitchFamily="34" charset="0"/>
                <a:ea typeface="Calibri" pitchFamily="34" charset="-122"/>
                <a:cs typeface="Calibri" pitchFamily="34" charset="-120"/>
              </a:rPr>
              <a:t>of bank credit reaches agriculture</a:t>
            </a:r>
            <a:endParaRPr lang="en-US" sz="1500" dirty="0"/>
          </a:p>
        </p:txBody>
      </p:sp>
      <p:sp>
        <p:nvSpPr>
          <p:cNvPr id="16" name="Text 14"/>
          <p:cNvSpPr/>
          <p:nvPr/>
        </p:nvSpPr>
        <p:spPr>
          <a:xfrm>
            <a:off x="8257032" y="4286707"/>
            <a:ext cx="3154680" cy="1428293"/>
          </a:xfrm>
          <a:prstGeom prst="rect">
            <a:avLst/>
          </a:prstGeom>
          <a:noFill/>
          <a:ln/>
        </p:spPr>
        <p:txBody>
          <a:bodyPr wrap="square" lIns="0" tIns="0" rIns="0" bIns="0" rtlCol="0" anchor="ctr"/>
          <a:lstStyle/>
          <a:p>
            <a:pPr indent="0" marL="0">
              <a:buNone/>
            </a:pPr>
            <a:r>
              <a:rPr lang="en-US" sz="1150" dirty="0">
                <a:solidFill>
                  <a:srgbClr val="5A6B5D"/>
                </a:solidFill>
                <a:latin typeface="Calibri" pitchFamily="34" charset="0"/>
                <a:ea typeface="Calibri" pitchFamily="34" charset="-122"/>
                <a:cs typeface="Calibri" pitchFamily="34" charset="-120"/>
              </a:rPr>
              <a:t>A fifth of Kenya's GDP receives one twenty-fifth of its credit (CBK). No payslip, no title deed, no credit history — no loan. Twenty good seasons count for nothing.</a:t>
            </a:r>
            <a:endParaRPr lang="en-US" sz="1150" dirty="0"/>
          </a:p>
        </p:txBody>
      </p:sp>
      <p:sp>
        <p:nvSpPr>
          <p:cNvPr id="17" name="Text 15"/>
          <p:cNvSpPr/>
          <p:nvPr/>
        </p:nvSpPr>
        <p:spPr>
          <a:xfrm>
            <a:off x="548640" y="6080760"/>
            <a:ext cx="11064240" cy="457200"/>
          </a:xfrm>
          <a:prstGeom prst="rect">
            <a:avLst/>
          </a:prstGeom>
          <a:noFill/>
          <a:ln/>
        </p:spPr>
        <p:txBody>
          <a:bodyPr wrap="square" lIns="0" tIns="0" rIns="0" bIns="0" rtlCol="0" anchor="ctr"/>
          <a:lstStyle/>
          <a:p>
            <a:pPr indent="0" marL="0">
              <a:buNone/>
            </a:pPr>
            <a:r>
              <a:rPr lang="en-US" sz="1400" i="1" dirty="0">
                <a:solidFill>
                  <a:srgbClr val="2E7D46"/>
                </a:solidFill>
                <a:latin typeface="Calibri" pitchFamily="34" charset="0"/>
                <a:ea typeface="Calibri" pitchFamily="34" charset="-122"/>
                <a:cs typeface="Calibri" pitchFamily="34" charset="-120"/>
              </a:rPr>
              <a:t>Each problem feeds the next: unseen disease shrinks the harvest, blind selling shrinks the income, and the bank sees nothing at all.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THE PERSON BEHIND THE NUMBERS</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Meet Amina — 3.5 acres in Uasin Gishu</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2</a:t>
            </a:r>
            <a:endParaRPr lang="en-US" sz="1100" dirty="0"/>
          </a:p>
        </p:txBody>
      </p:sp>
      <p:sp>
        <p:nvSpPr>
          <p:cNvPr id="5" name="Shape 3"/>
          <p:cNvSpPr/>
          <p:nvPr/>
        </p:nvSpPr>
        <p:spPr>
          <a:xfrm>
            <a:off x="548640" y="1828800"/>
            <a:ext cx="4937760" cy="4206240"/>
          </a:xfrm>
          <a:prstGeom prst="roundRect">
            <a:avLst>
              <a:gd name="adj" fmla="val 1957"/>
            </a:avLst>
          </a:prstGeom>
          <a:solidFill>
            <a:srgbClr val="12261A"/>
          </a:solidFill>
          <a:ln/>
        </p:spPr>
      </p:sp>
      <p:sp>
        <p:nvSpPr>
          <p:cNvPr id="6" name="Text 4"/>
          <p:cNvSpPr/>
          <p:nvPr/>
        </p:nvSpPr>
        <p:spPr>
          <a:xfrm>
            <a:off x="2331720" y="2148840"/>
            <a:ext cx="1463040" cy="1371600"/>
          </a:xfrm>
          <a:prstGeom prst="rect">
            <a:avLst/>
          </a:prstGeom>
          <a:noFill/>
          <a:ln/>
        </p:spPr>
        <p:txBody>
          <a:bodyPr wrap="square" lIns="0" tIns="0" rIns="0" bIns="0" rtlCol="0" anchor="ctr"/>
          <a:lstStyle/>
          <a:p>
            <a:pPr algn="ctr" indent="0" marL="0">
              <a:buNone/>
            </a:pPr>
            <a:r>
              <a:rPr lang="en-US" sz="7200" dirty="0">
                <a:solidFill>
                  <a:srgbClr val="000000"/>
                </a:solidFill>
              </a:rPr>
              <a:t>👩🏾‍🌾</a:t>
            </a:r>
            <a:endParaRPr lang="en-US" sz="7200" dirty="0"/>
          </a:p>
        </p:txBody>
      </p:sp>
      <p:sp>
        <p:nvSpPr>
          <p:cNvPr id="7" name="Text 5"/>
          <p:cNvSpPr/>
          <p:nvPr/>
        </p:nvSpPr>
        <p:spPr>
          <a:xfrm>
            <a:off x="822960" y="3703320"/>
            <a:ext cx="4389120" cy="457200"/>
          </a:xfrm>
          <a:prstGeom prst="rect">
            <a:avLst/>
          </a:prstGeom>
          <a:noFill/>
          <a:ln/>
        </p:spPr>
        <p:txBody>
          <a:bodyPr wrap="square" lIns="0" tIns="0" rIns="0" bIns="0" rtlCol="0" anchor="ctr"/>
          <a:lstStyle/>
          <a:p>
            <a:pPr algn="ctr" indent="0" marL="0">
              <a:buNone/>
            </a:pPr>
            <a:r>
              <a:rPr lang="en-US" sz="2400" b="1" dirty="0">
                <a:solidFill>
                  <a:srgbClr val="F2ECD9"/>
                </a:solidFill>
                <a:latin typeface="Bookman Old Style" pitchFamily="34" charset="0"/>
                <a:ea typeface="Bookman Old Style" pitchFamily="34" charset="-122"/>
                <a:cs typeface="Bookman Old Style" pitchFamily="34" charset="-120"/>
              </a:rPr>
              <a:t>Amina Chebet</a:t>
            </a:r>
            <a:endParaRPr lang="en-US" sz="2400" dirty="0"/>
          </a:p>
        </p:txBody>
      </p:sp>
      <p:sp>
        <p:nvSpPr>
          <p:cNvPr id="8" name="Text 6"/>
          <p:cNvSpPr/>
          <p:nvPr/>
        </p:nvSpPr>
        <p:spPr>
          <a:xfrm>
            <a:off x="822960" y="4206240"/>
            <a:ext cx="4389120" cy="1188720"/>
          </a:xfrm>
          <a:prstGeom prst="rect">
            <a:avLst/>
          </a:prstGeom>
          <a:noFill/>
          <a:ln/>
        </p:spPr>
        <p:txBody>
          <a:bodyPr wrap="square" lIns="0" tIns="0" rIns="0" bIns="0" rtlCol="0" anchor="ctr"/>
          <a:lstStyle/>
          <a:p>
            <a:pPr algn="ctr" indent="0" marL="0">
              <a:buNone/>
            </a:pPr>
            <a:r>
              <a:rPr lang="en-US" sz="1400" dirty="0">
                <a:solidFill>
                  <a:srgbClr val="BDB79F"/>
                </a:solidFill>
                <a:latin typeface="Calibri" pitchFamily="34" charset="0"/>
                <a:ea typeface="Calibri" pitchFamily="34" charset="-122"/>
                <a:cs typeface="Calibri" pitchFamily="34" charset="-120"/>
              </a:rPr>
              <a:t>Maize · beans · potatoes</a:t>
            </a:r>
            <a:endParaRPr lang="en-US" sz="1400" dirty="0"/>
          </a:p>
          <a:p>
            <a:pPr algn="ctr" indent="0" marL="0">
              <a:buNone/>
            </a:pPr>
            <a:r>
              <a:rPr lang="en-US" sz="1400" dirty="0">
                <a:solidFill>
                  <a:srgbClr val="BDB79F"/>
                </a:solidFill>
                <a:latin typeface="Calibri" pitchFamily="34" charset="0"/>
                <a:ea typeface="Calibri" pitchFamily="34" charset="-122"/>
                <a:cs typeface="Calibri" pitchFamily="34" charset="-120"/>
              </a:rPr>
              <a:t>8 harvests over 5 seasons · 12 tonnes produced</a:t>
            </a:r>
            <a:endParaRPr lang="en-US" sz="1400" dirty="0"/>
          </a:p>
          <a:p>
            <a:pPr algn="ctr" indent="0" marL="0">
              <a:buNone/>
            </a:pPr>
            <a:r>
              <a:rPr lang="en-US" sz="1400" dirty="0">
                <a:solidFill>
                  <a:srgbClr val="BDB79F"/>
                </a:solidFill>
                <a:latin typeface="Calibri" pitchFamily="34" charset="0"/>
                <a:ea typeface="Calibri" pitchFamily="34" charset="-122"/>
                <a:cs typeface="Calibri" pitchFamily="34" charset="-120"/>
              </a:rPr>
              <a:t>KES 548,000 lifetime revenue</a:t>
            </a:r>
            <a:endParaRPr lang="en-US" sz="1400" dirty="0"/>
          </a:p>
        </p:txBody>
      </p:sp>
      <p:sp>
        <p:nvSpPr>
          <p:cNvPr id="9" name="Shape 7"/>
          <p:cNvSpPr/>
          <p:nvPr/>
        </p:nvSpPr>
        <p:spPr>
          <a:xfrm>
            <a:off x="6035040" y="2057400"/>
            <a:ext cx="566928" cy="566928"/>
          </a:xfrm>
          <a:prstGeom prst="ellipse">
            <a:avLst/>
          </a:prstGeom>
          <a:solidFill>
            <a:srgbClr val="F0A828"/>
          </a:solidFill>
          <a:ln/>
        </p:spPr>
      </p:sp>
      <p:sp>
        <p:nvSpPr>
          <p:cNvPr id="10" name="Text 8"/>
          <p:cNvSpPr/>
          <p:nvPr/>
        </p:nvSpPr>
        <p:spPr>
          <a:xfrm>
            <a:off x="5980176" y="202996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6784848" y="2002536"/>
            <a:ext cx="482803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Her maize yellowed last season</a:t>
            </a:r>
            <a:endParaRPr lang="en-US" sz="1600" dirty="0"/>
          </a:p>
        </p:txBody>
      </p:sp>
      <p:sp>
        <p:nvSpPr>
          <p:cNvPr id="12" name="Text 10"/>
          <p:cNvSpPr/>
          <p:nvPr/>
        </p:nvSpPr>
        <p:spPr>
          <a:xfrm>
            <a:off x="6784848" y="2331720"/>
            <a:ext cx="482803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She sprayed the wrong chemical on a virus. The agrovet guessed. A third of the field was lost before anyone knew what it was.</a:t>
            </a:r>
            <a:endParaRPr lang="en-US" sz="1250" dirty="0"/>
          </a:p>
        </p:txBody>
      </p:sp>
      <p:sp>
        <p:nvSpPr>
          <p:cNvPr id="13" name="Shape 11"/>
          <p:cNvSpPr/>
          <p:nvPr/>
        </p:nvSpPr>
        <p:spPr>
          <a:xfrm>
            <a:off x="6035040" y="3429000"/>
            <a:ext cx="566928" cy="566928"/>
          </a:xfrm>
          <a:prstGeom prst="ellipse">
            <a:avLst/>
          </a:prstGeom>
          <a:solidFill>
            <a:srgbClr val="F0A828"/>
          </a:solidFill>
          <a:ln/>
        </p:spPr>
      </p:sp>
      <p:sp>
        <p:nvSpPr>
          <p:cNvPr id="14" name="Text 12"/>
          <p:cNvSpPr/>
          <p:nvPr/>
        </p:nvSpPr>
        <p:spPr>
          <a:xfrm>
            <a:off x="5980176" y="340156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6784848" y="3374136"/>
            <a:ext cx="482803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She sold at the farm gate for 41/kg</a:t>
            </a:r>
            <a:endParaRPr lang="en-US" sz="1600" dirty="0"/>
          </a:p>
        </p:txBody>
      </p:sp>
      <p:sp>
        <p:nvSpPr>
          <p:cNvPr id="16" name="Text 14"/>
          <p:cNvSpPr/>
          <p:nvPr/>
        </p:nvSpPr>
        <p:spPr>
          <a:xfrm>
            <a:off x="6784848" y="3703320"/>
            <a:ext cx="482803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That same week, Kisumu wholesale paid 54. The broker knew. She didn't.</a:t>
            </a:r>
            <a:endParaRPr lang="en-US" sz="1250" dirty="0"/>
          </a:p>
        </p:txBody>
      </p:sp>
      <p:sp>
        <p:nvSpPr>
          <p:cNvPr id="17" name="Shape 15"/>
          <p:cNvSpPr/>
          <p:nvPr/>
        </p:nvSpPr>
        <p:spPr>
          <a:xfrm>
            <a:off x="6035040" y="4800600"/>
            <a:ext cx="566928" cy="566928"/>
          </a:xfrm>
          <a:prstGeom prst="ellipse">
            <a:avLst/>
          </a:prstGeom>
          <a:solidFill>
            <a:srgbClr val="F0A828"/>
          </a:solidFill>
          <a:ln/>
        </p:spPr>
      </p:sp>
      <p:sp>
        <p:nvSpPr>
          <p:cNvPr id="18" name="Text 16"/>
          <p:cNvSpPr/>
          <p:nvPr/>
        </p:nvSpPr>
        <p:spPr>
          <a:xfrm>
            <a:off x="5980176" y="477316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6784848" y="4745736"/>
            <a:ext cx="482803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The bank asked for a payslip</a:t>
            </a:r>
            <a:endParaRPr lang="en-US" sz="1600" dirty="0"/>
          </a:p>
        </p:txBody>
      </p:sp>
      <p:sp>
        <p:nvSpPr>
          <p:cNvPr id="20" name="Text 18"/>
          <p:cNvSpPr/>
          <p:nvPr/>
        </p:nvSpPr>
        <p:spPr>
          <a:xfrm>
            <a:off x="6784848" y="5074920"/>
            <a:ext cx="482803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Five seasons of successful farming — and no document the bank would read. She borrowed from a shylock at 20% a month instead.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61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F0A828"/>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F2ECD9"/>
                </a:solidFill>
                <a:latin typeface="Bookman Old Style" pitchFamily="34" charset="0"/>
                <a:ea typeface="Bookman Old Style" pitchFamily="34" charset="-122"/>
                <a:cs typeface="Bookman Old Style" pitchFamily="34" charset="-120"/>
              </a:rPr>
              <a:t>One platform. Three superpowers. One loop.</a:t>
            </a:r>
            <a:endParaRPr lang="en-US" sz="3400" dirty="0"/>
          </a:p>
        </p:txBody>
      </p:sp>
      <p:sp>
        <p:nvSpPr>
          <p:cNvPr id="4" name="Shape 2"/>
          <p:cNvSpPr/>
          <p:nvPr/>
        </p:nvSpPr>
        <p:spPr>
          <a:xfrm>
            <a:off x="548640" y="1828800"/>
            <a:ext cx="3611880" cy="3291840"/>
          </a:xfrm>
          <a:prstGeom prst="roundRect">
            <a:avLst>
              <a:gd name="adj" fmla="val 2500"/>
            </a:avLst>
          </a:prstGeom>
          <a:solidFill>
            <a:srgbClr val="1C3325"/>
          </a:solidFill>
          <a:ln/>
        </p:spPr>
      </p:sp>
      <p:sp>
        <p:nvSpPr>
          <p:cNvPr id="5" name="Shape 3"/>
          <p:cNvSpPr/>
          <p:nvPr/>
        </p:nvSpPr>
        <p:spPr>
          <a:xfrm>
            <a:off x="822960" y="2103120"/>
            <a:ext cx="731520" cy="731520"/>
          </a:xfrm>
          <a:prstGeom prst="ellipse">
            <a:avLst/>
          </a:prstGeom>
          <a:solidFill>
            <a:srgbClr val="F0A828"/>
          </a:solidFill>
          <a:ln/>
        </p:spPr>
      </p:sp>
      <p:sp>
        <p:nvSpPr>
          <p:cNvPr id="6" name="Text 4"/>
          <p:cNvSpPr/>
          <p:nvPr/>
        </p:nvSpPr>
        <p:spPr>
          <a:xfrm>
            <a:off x="786384" y="2084832"/>
            <a:ext cx="822960" cy="77724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822960" y="3017520"/>
            <a:ext cx="3063240" cy="457200"/>
          </a:xfrm>
          <a:prstGeom prst="rect">
            <a:avLst/>
          </a:prstGeom>
          <a:noFill/>
          <a:ln/>
        </p:spPr>
        <p:txBody>
          <a:bodyPr wrap="square" lIns="0" tIns="0" rIns="0" bIns="0" rtlCol="0" anchor="ctr"/>
          <a:lstStyle/>
          <a:p>
            <a:pPr indent="0" marL="0">
              <a:buNone/>
            </a:pPr>
            <a:r>
              <a:rPr lang="en-US" sz="1800" b="1" dirty="0">
                <a:solidFill>
                  <a:srgbClr val="F2ECD9"/>
                </a:solidFill>
                <a:latin typeface="Calibri" pitchFamily="34" charset="0"/>
                <a:ea typeface="Calibri" pitchFamily="34" charset="-122"/>
                <a:cs typeface="Calibri" pitchFamily="34" charset="-120"/>
              </a:rPr>
              <a:t>AI Crop Doctor</a:t>
            </a:r>
            <a:endParaRPr lang="en-US" sz="1800" dirty="0"/>
          </a:p>
        </p:txBody>
      </p:sp>
      <p:sp>
        <p:nvSpPr>
          <p:cNvPr id="8" name="Text 6"/>
          <p:cNvSpPr/>
          <p:nvPr/>
        </p:nvSpPr>
        <p:spPr>
          <a:xfrm>
            <a:off x="822960" y="3474720"/>
            <a:ext cx="3063240" cy="1554480"/>
          </a:xfrm>
          <a:prstGeom prst="rect">
            <a:avLst/>
          </a:prstGeom>
          <a:noFill/>
          <a:ln/>
        </p:spPr>
        <p:txBody>
          <a:bodyPr wrap="square" lIns="0" tIns="0" rIns="0" bIns="0" rtlCol="0" anchor="ctr"/>
          <a:lstStyle/>
          <a:p>
            <a:pPr indent="0" marL="0">
              <a:buNone/>
            </a:pPr>
            <a:r>
              <a:rPr lang="en-US" sz="1250" dirty="0">
                <a:solidFill>
                  <a:srgbClr val="BDB79F"/>
                </a:solidFill>
                <a:latin typeface="Calibri" pitchFamily="34" charset="0"/>
                <a:ea typeface="Calibri" pitchFamily="34" charset="-122"/>
                <a:cs typeface="Calibri" pitchFamily="34" charset="-120"/>
              </a:rPr>
              <a:t>Photograph a sick leaf → instant diagnosis, treatment and prevention from a 14-disease Kenyan knowledge base. Runs on-device — works with no data bundle.</a:t>
            </a:r>
            <a:endParaRPr lang="en-US" sz="1250" dirty="0"/>
          </a:p>
        </p:txBody>
      </p:sp>
      <p:sp>
        <p:nvSpPr>
          <p:cNvPr id="9" name="Shape 7"/>
          <p:cNvSpPr/>
          <p:nvPr/>
        </p:nvSpPr>
        <p:spPr>
          <a:xfrm>
            <a:off x="4288536" y="1828800"/>
            <a:ext cx="3611880" cy="3291840"/>
          </a:xfrm>
          <a:prstGeom prst="roundRect">
            <a:avLst>
              <a:gd name="adj" fmla="val 2500"/>
            </a:avLst>
          </a:prstGeom>
          <a:solidFill>
            <a:srgbClr val="1C3325"/>
          </a:solidFill>
          <a:ln/>
        </p:spPr>
      </p:sp>
      <p:sp>
        <p:nvSpPr>
          <p:cNvPr id="10" name="Shape 8"/>
          <p:cNvSpPr/>
          <p:nvPr/>
        </p:nvSpPr>
        <p:spPr>
          <a:xfrm>
            <a:off x="4562856" y="2103120"/>
            <a:ext cx="731520" cy="731520"/>
          </a:xfrm>
          <a:prstGeom prst="ellipse">
            <a:avLst/>
          </a:prstGeom>
          <a:solidFill>
            <a:srgbClr val="F0A828"/>
          </a:solidFill>
          <a:ln/>
        </p:spPr>
      </p:sp>
      <p:sp>
        <p:nvSpPr>
          <p:cNvPr id="11" name="Text 9"/>
          <p:cNvSpPr/>
          <p:nvPr/>
        </p:nvSpPr>
        <p:spPr>
          <a:xfrm>
            <a:off x="4526280" y="2084832"/>
            <a:ext cx="822960" cy="77724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2" name="Text 10"/>
          <p:cNvSpPr/>
          <p:nvPr/>
        </p:nvSpPr>
        <p:spPr>
          <a:xfrm>
            <a:off x="4562856" y="3017520"/>
            <a:ext cx="3063240" cy="457200"/>
          </a:xfrm>
          <a:prstGeom prst="rect">
            <a:avLst/>
          </a:prstGeom>
          <a:noFill/>
          <a:ln/>
        </p:spPr>
        <p:txBody>
          <a:bodyPr wrap="square" lIns="0" tIns="0" rIns="0" bIns="0" rtlCol="0" anchor="ctr"/>
          <a:lstStyle/>
          <a:p>
            <a:pPr indent="0" marL="0">
              <a:buNone/>
            </a:pPr>
            <a:r>
              <a:rPr lang="en-US" sz="1800" b="1" dirty="0">
                <a:solidFill>
                  <a:srgbClr val="F2ECD9"/>
                </a:solidFill>
                <a:latin typeface="Calibri" pitchFamily="34" charset="0"/>
                <a:ea typeface="Calibri" pitchFamily="34" charset="-122"/>
                <a:cs typeface="Calibri" pitchFamily="34" charset="-120"/>
              </a:rPr>
              <a:t>Market Intelligence</a:t>
            </a:r>
            <a:endParaRPr lang="en-US" sz="1800" dirty="0"/>
          </a:p>
        </p:txBody>
      </p:sp>
      <p:sp>
        <p:nvSpPr>
          <p:cNvPr id="13" name="Text 11"/>
          <p:cNvSpPr/>
          <p:nvPr/>
        </p:nvSpPr>
        <p:spPr>
          <a:xfrm>
            <a:off x="4562856" y="3474720"/>
            <a:ext cx="3063240" cy="1554480"/>
          </a:xfrm>
          <a:prstGeom prst="rect">
            <a:avLst/>
          </a:prstGeom>
          <a:noFill/>
          <a:ln/>
        </p:spPr>
        <p:txBody>
          <a:bodyPr wrap="square" lIns="0" tIns="0" rIns="0" bIns="0" rtlCol="0" anchor="ctr"/>
          <a:lstStyle/>
          <a:p>
            <a:pPr indent="0" marL="0">
              <a:buNone/>
            </a:pPr>
            <a:r>
              <a:rPr lang="en-US" sz="1250" dirty="0">
                <a:solidFill>
                  <a:srgbClr val="BDB79F"/>
                </a:solidFill>
                <a:latin typeface="Calibri" pitchFamily="34" charset="0"/>
                <a:ea typeface="Calibri" pitchFamily="34" charset="-122"/>
                <a:cs typeface="Calibri" pitchFamily="34" charset="-120"/>
              </a:rPr>
              <a:t>60-day price trends across 5 major markets, plus the best market to sell in today. The farmer negotiates from knowledge, not desperation.</a:t>
            </a:r>
            <a:endParaRPr lang="en-US" sz="1250" dirty="0"/>
          </a:p>
        </p:txBody>
      </p:sp>
      <p:sp>
        <p:nvSpPr>
          <p:cNvPr id="14" name="Shape 12"/>
          <p:cNvSpPr/>
          <p:nvPr/>
        </p:nvSpPr>
        <p:spPr>
          <a:xfrm>
            <a:off x="8028432" y="1828800"/>
            <a:ext cx="3611880" cy="3291840"/>
          </a:xfrm>
          <a:prstGeom prst="roundRect">
            <a:avLst>
              <a:gd name="adj" fmla="val 2500"/>
            </a:avLst>
          </a:prstGeom>
          <a:solidFill>
            <a:srgbClr val="1C3325"/>
          </a:solidFill>
          <a:ln/>
        </p:spPr>
      </p:sp>
      <p:sp>
        <p:nvSpPr>
          <p:cNvPr id="15" name="Shape 13"/>
          <p:cNvSpPr/>
          <p:nvPr/>
        </p:nvSpPr>
        <p:spPr>
          <a:xfrm>
            <a:off x="8302752" y="2103120"/>
            <a:ext cx="731520" cy="731520"/>
          </a:xfrm>
          <a:prstGeom prst="ellipse">
            <a:avLst/>
          </a:prstGeom>
          <a:solidFill>
            <a:srgbClr val="F0A828"/>
          </a:solidFill>
          <a:ln/>
        </p:spPr>
      </p:sp>
      <p:sp>
        <p:nvSpPr>
          <p:cNvPr id="16" name="Text 14"/>
          <p:cNvSpPr/>
          <p:nvPr/>
        </p:nvSpPr>
        <p:spPr>
          <a:xfrm>
            <a:off x="8266176" y="2084832"/>
            <a:ext cx="822960" cy="77724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8302752" y="3017520"/>
            <a:ext cx="3063240" cy="457200"/>
          </a:xfrm>
          <a:prstGeom prst="rect">
            <a:avLst/>
          </a:prstGeom>
          <a:noFill/>
          <a:ln/>
        </p:spPr>
        <p:txBody>
          <a:bodyPr wrap="square" lIns="0" tIns="0" rIns="0" bIns="0" rtlCol="0" anchor="ctr"/>
          <a:lstStyle/>
          <a:p>
            <a:pPr indent="0" marL="0">
              <a:buNone/>
            </a:pPr>
            <a:r>
              <a:rPr lang="en-US" sz="1800" b="1" dirty="0">
                <a:solidFill>
                  <a:srgbClr val="F2ECD9"/>
                </a:solidFill>
                <a:latin typeface="Calibri" pitchFamily="34" charset="0"/>
                <a:ea typeface="Calibri" pitchFamily="34" charset="-122"/>
                <a:cs typeface="Calibri" pitchFamily="34" charset="-120"/>
              </a:rPr>
              <a:t>Mavuno Score™</a:t>
            </a:r>
            <a:endParaRPr lang="en-US" sz="1800" dirty="0"/>
          </a:p>
        </p:txBody>
      </p:sp>
      <p:sp>
        <p:nvSpPr>
          <p:cNvPr id="18" name="Text 16"/>
          <p:cNvSpPr/>
          <p:nvPr/>
        </p:nvSpPr>
        <p:spPr>
          <a:xfrm>
            <a:off x="8302752" y="3474720"/>
            <a:ext cx="3063240" cy="1554480"/>
          </a:xfrm>
          <a:prstGeom prst="rect">
            <a:avLst/>
          </a:prstGeom>
          <a:noFill/>
          <a:ln/>
        </p:spPr>
        <p:txBody>
          <a:bodyPr wrap="square" lIns="0" tIns="0" rIns="0" bIns="0" rtlCol="0" anchor="ctr"/>
          <a:lstStyle/>
          <a:p>
            <a:pPr indent="0" marL="0">
              <a:buNone/>
            </a:pPr>
            <a:r>
              <a:rPr lang="en-US" sz="1250" dirty="0">
                <a:solidFill>
                  <a:srgbClr val="BDB79F"/>
                </a:solidFill>
                <a:latin typeface="Calibri" pitchFamily="34" charset="0"/>
                <a:ea typeface="Calibri" pitchFamily="34" charset="-122"/>
                <a:cs typeface="Calibri" pitchFamily="34" charset="-120"/>
              </a:rPr>
              <a:t>Every harvest logged builds a 300–850 credit score from 5 farm signals — unlocking collateral-free input loans disbursed to M-PESA.</a:t>
            </a:r>
            <a:endParaRPr lang="en-US" sz="1250" dirty="0"/>
          </a:p>
        </p:txBody>
      </p:sp>
      <p:sp>
        <p:nvSpPr>
          <p:cNvPr id="19" name="Text 17"/>
          <p:cNvSpPr/>
          <p:nvPr/>
        </p:nvSpPr>
        <p:spPr>
          <a:xfrm>
            <a:off x="548640" y="5440680"/>
            <a:ext cx="11064240" cy="777240"/>
          </a:xfrm>
          <a:prstGeom prst="rect">
            <a:avLst/>
          </a:prstGeom>
          <a:noFill/>
          <a:ln/>
        </p:spPr>
        <p:txBody>
          <a:bodyPr wrap="square" lIns="0" tIns="0" rIns="0" bIns="0" rtlCol="0" anchor="ctr"/>
          <a:lstStyle/>
          <a:p>
            <a:pPr indent="0" marL="0">
              <a:buNone/>
            </a:pPr>
            <a:r>
              <a:rPr lang="en-US" sz="1500" b="1" dirty="0">
                <a:solidFill>
                  <a:srgbClr val="F0A828"/>
                </a:solidFill>
                <a:latin typeface="Calibri" pitchFamily="34" charset="0"/>
                <a:ea typeface="Calibri" pitchFamily="34" charset="-122"/>
                <a:cs typeface="Calibri" pitchFamily="34" charset="-120"/>
              </a:rPr>
              <a:t>The loop:  </a:t>
            </a:r>
            <a:pPr indent="0" marL="0">
              <a:buNone/>
            </a:pPr>
            <a:r>
              <a:rPr lang="en-US" sz="1500" dirty="0">
                <a:solidFill>
                  <a:srgbClr val="F2ECD9"/>
                </a:solidFill>
                <a:latin typeface="Calibri" pitchFamily="34" charset="0"/>
                <a:ea typeface="Calibri" pitchFamily="34" charset="-122"/>
                <a:cs typeface="Calibri" pitchFamily="34" charset="-120"/>
              </a:rPr>
              <a:t>diagnosis protects the harvest → price intelligence raises its value → the record of both becomes her credit identity. Each use of the app makes the next loan cheaper.</a:t>
            </a:r>
            <a:endParaRPr lang="en-US" sz="1500" dirty="0"/>
          </a:p>
        </p:txBody>
      </p:sp>
      <p:sp>
        <p:nvSpPr>
          <p:cNvPr id="20" name="Text 18"/>
          <p:cNvSpPr/>
          <p:nvPr/>
        </p:nvSpPr>
        <p:spPr>
          <a:xfrm>
            <a:off x="548640" y="6263640"/>
            <a:ext cx="11064240" cy="365760"/>
          </a:xfrm>
          <a:prstGeom prst="rect">
            <a:avLst/>
          </a:prstGeom>
          <a:noFill/>
          <a:ln/>
        </p:spPr>
        <p:txBody>
          <a:bodyPr wrap="square" lIns="0" tIns="0" rIns="0" bIns="0" rtlCol="0" anchor="ctr"/>
          <a:lstStyle/>
          <a:p>
            <a:pPr indent="0" marL="0">
              <a:buNone/>
            </a:pPr>
            <a:r>
              <a:rPr lang="en-US" sz="1300" dirty="0">
                <a:solidFill>
                  <a:srgbClr val="BDB79F"/>
                </a:solidFill>
                <a:latin typeface="Calibri" pitchFamily="34" charset="0"/>
                <a:ea typeface="Calibri" pitchFamily="34" charset="-122"/>
                <a:cs typeface="Calibri" pitchFamily="34" charset="-120"/>
              </a:rPr>
              <a:t>📟  Plus a USSD channel (*384*626#) — full service on any feature phone, in Kiswahili.</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LIVE DEMONSTRATION</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What you are about to see (3 minutes)</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3 drives · Presenter 2 narrates</a:t>
            </a:r>
            <a:endParaRPr lang="en-US" sz="1100" dirty="0"/>
          </a:p>
        </p:txBody>
      </p:sp>
      <p:sp>
        <p:nvSpPr>
          <p:cNvPr id="5" name="Shape 3"/>
          <p:cNvSpPr/>
          <p:nvPr/>
        </p:nvSpPr>
        <p:spPr>
          <a:xfrm>
            <a:off x="548640" y="1938528"/>
            <a:ext cx="502920" cy="502920"/>
          </a:xfrm>
          <a:prstGeom prst="ellipse">
            <a:avLst/>
          </a:prstGeom>
          <a:solidFill>
            <a:srgbClr val="2E7D46"/>
          </a:solidFill>
          <a:ln/>
        </p:spPr>
      </p:sp>
      <p:sp>
        <p:nvSpPr>
          <p:cNvPr id="6" name="Text 4"/>
          <p:cNvSpPr/>
          <p:nvPr/>
        </p:nvSpPr>
        <p:spPr>
          <a:xfrm>
            <a:off x="548640" y="19385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828800"/>
            <a:ext cx="4846320" cy="365760"/>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Dashboard</a:t>
            </a:r>
            <a:endParaRPr lang="en-US" sz="1600" dirty="0"/>
          </a:p>
        </p:txBody>
      </p:sp>
      <p:sp>
        <p:nvSpPr>
          <p:cNvPr id="8" name="Text 6"/>
          <p:cNvSpPr/>
          <p:nvPr/>
        </p:nvSpPr>
        <p:spPr>
          <a:xfrm>
            <a:off x="1234440" y="2176272"/>
            <a:ext cx="4846320" cy="685800"/>
          </a:xfrm>
          <a:prstGeom prst="rect">
            <a:avLst/>
          </a:prstGeom>
          <a:noFill/>
          <a:ln/>
        </p:spPr>
        <p:txBody>
          <a:bodyPr wrap="square" lIns="0" tIns="0" rIns="0" bIns="0" rtlCol="0" anchor="ctr"/>
          <a:lstStyle/>
          <a:p>
            <a:pPr indent="0" marL="0">
              <a:buNone/>
            </a:pPr>
            <a:r>
              <a:rPr lang="en-US" sz="1200" dirty="0">
                <a:solidFill>
                  <a:srgbClr val="4A584C"/>
                </a:solidFill>
                <a:latin typeface="Calibri" pitchFamily="34" charset="0"/>
                <a:ea typeface="Calibri" pitchFamily="34" charset="-122"/>
                <a:cs typeface="Calibri" pitchFamily="34" charset="-120"/>
              </a:rPr>
              <a:t>Amina's shamba at a glance: weather, prices, agronomy advice, score 733</a:t>
            </a:r>
            <a:endParaRPr lang="en-US" sz="1200" dirty="0"/>
          </a:p>
        </p:txBody>
      </p:sp>
      <p:sp>
        <p:nvSpPr>
          <p:cNvPr id="9" name="Shape 7"/>
          <p:cNvSpPr/>
          <p:nvPr/>
        </p:nvSpPr>
        <p:spPr>
          <a:xfrm>
            <a:off x="6263640" y="1938528"/>
            <a:ext cx="502920" cy="502920"/>
          </a:xfrm>
          <a:prstGeom prst="ellipse">
            <a:avLst/>
          </a:prstGeom>
          <a:solidFill>
            <a:srgbClr val="2E7D46"/>
          </a:solidFill>
          <a:ln/>
        </p:spPr>
      </p:sp>
      <p:sp>
        <p:nvSpPr>
          <p:cNvPr id="10" name="Text 8"/>
          <p:cNvSpPr/>
          <p:nvPr/>
        </p:nvSpPr>
        <p:spPr>
          <a:xfrm>
            <a:off x="6263640" y="19385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6949440" y="1828800"/>
            <a:ext cx="4846320" cy="365760"/>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Crop Doctor</a:t>
            </a:r>
            <a:endParaRPr lang="en-US" sz="1600" dirty="0"/>
          </a:p>
        </p:txBody>
      </p:sp>
      <p:sp>
        <p:nvSpPr>
          <p:cNvPr id="12" name="Text 10"/>
          <p:cNvSpPr/>
          <p:nvPr/>
        </p:nvSpPr>
        <p:spPr>
          <a:xfrm>
            <a:off x="6949440" y="2176272"/>
            <a:ext cx="4846320" cy="685800"/>
          </a:xfrm>
          <a:prstGeom prst="rect">
            <a:avLst/>
          </a:prstGeom>
          <a:noFill/>
          <a:ln/>
        </p:spPr>
        <p:txBody>
          <a:bodyPr wrap="square" lIns="0" tIns="0" rIns="0" bIns="0" rtlCol="0" anchor="ctr"/>
          <a:lstStyle/>
          <a:p>
            <a:pPr indent="0" marL="0">
              <a:buNone/>
            </a:pPr>
            <a:r>
              <a:rPr lang="en-US" sz="1200" dirty="0">
                <a:solidFill>
                  <a:srgbClr val="4A584C"/>
                </a:solidFill>
                <a:latin typeface="Calibri" pitchFamily="34" charset="0"/>
                <a:ea typeface="Calibri" pitchFamily="34" charset="-122"/>
                <a:cs typeface="Calibri" pitchFamily="34" charset="-120"/>
              </a:rPr>
              <a:t>Upload a diseased maize leaf → diagnosis + treatment in seconds</a:t>
            </a:r>
            <a:endParaRPr lang="en-US" sz="1200" dirty="0"/>
          </a:p>
        </p:txBody>
      </p:sp>
      <p:sp>
        <p:nvSpPr>
          <p:cNvPr id="13" name="Shape 11"/>
          <p:cNvSpPr/>
          <p:nvPr/>
        </p:nvSpPr>
        <p:spPr>
          <a:xfrm>
            <a:off x="548640" y="3355848"/>
            <a:ext cx="502920" cy="502920"/>
          </a:xfrm>
          <a:prstGeom prst="ellipse">
            <a:avLst/>
          </a:prstGeom>
          <a:solidFill>
            <a:srgbClr val="2E7D46"/>
          </a:solidFill>
          <a:ln/>
        </p:spPr>
      </p:sp>
      <p:sp>
        <p:nvSpPr>
          <p:cNvPr id="14" name="Text 12"/>
          <p:cNvSpPr/>
          <p:nvPr/>
        </p:nvSpPr>
        <p:spPr>
          <a:xfrm>
            <a:off x="548640" y="335584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34440" y="3246120"/>
            <a:ext cx="4846320" cy="365760"/>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Markets</a:t>
            </a:r>
            <a:endParaRPr lang="en-US" sz="1600" dirty="0"/>
          </a:p>
        </p:txBody>
      </p:sp>
      <p:sp>
        <p:nvSpPr>
          <p:cNvPr id="16" name="Text 14"/>
          <p:cNvSpPr/>
          <p:nvPr/>
        </p:nvSpPr>
        <p:spPr>
          <a:xfrm>
            <a:off x="1234440" y="3593592"/>
            <a:ext cx="4846320" cy="685800"/>
          </a:xfrm>
          <a:prstGeom prst="rect">
            <a:avLst/>
          </a:prstGeom>
          <a:noFill/>
          <a:ln/>
        </p:spPr>
        <p:txBody>
          <a:bodyPr wrap="square" lIns="0" tIns="0" rIns="0" bIns="0" rtlCol="0" anchor="ctr"/>
          <a:lstStyle/>
          <a:p>
            <a:pPr indent="0" marL="0">
              <a:buNone/>
            </a:pPr>
            <a:r>
              <a:rPr lang="en-US" sz="1200" dirty="0">
                <a:solidFill>
                  <a:srgbClr val="4A584C"/>
                </a:solidFill>
                <a:latin typeface="Calibri" pitchFamily="34" charset="0"/>
                <a:ea typeface="Calibri" pitchFamily="34" charset="-122"/>
                <a:cs typeface="Calibri" pitchFamily="34" charset="-120"/>
              </a:rPr>
              <a:t>Maize: 54.7/kg in Kisumu vs 40.5 in Nairobi today — the middleman's secret, exposed</a:t>
            </a:r>
            <a:endParaRPr lang="en-US" sz="1200" dirty="0"/>
          </a:p>
        </p:txBody>
      </p:sp>
      <p:sp>
        <p:nvSpPr>
          <p:cNvPr id="17" name="Shape 15"/>
          <p:cNvSpPr/>
          <p:nvPr/>
        </p:nvSpPr>
        <p:spPr>
          <a:xfrm>
            <a:off x="6263640" y="3355848"/>
            <a:ext cx="502920" cy="502920"/>
          </a:xfrm>
          <a:prstGeom prst="ellipse">
            <a:avLst/>
          </a:prstGeom>
          <a:solidFill>
            <a:srgbClr val="2E7D46"/>
          </a:solidFill>
          <a:ln/>
        </p:spPr>
      </p:sp>
      <p:sp>
        <p:nvSpPr>
          <p:cNvPr id="18" name="Text 16"/>
          <p:cNvSpPr/>
          <p:nvPr/>
        </p:nvSpPr>
        <p:spPr>
          <a:xfrm>
            <a:off x="6263640" y="335584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6949440" y="3246120"/>
            <a:ext cx="4846320" cy="365760"/>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Log a harvest</a:t>
            </a:r>
            <a:endParaRPr lang="en-US" sz="1600" dirty="0"/>
          </a:p>
        </p:txBody>
      </p:sp>
      <p:sp>
        <p:nvSpPr>
          <p:cNvPr id="20" name="Text 18"/>
          <p:cNvSpPr/>
          <p:nvPr/>
        </p:nvSpPr>
        <p:spPr>
          <a:xfrm>
            <a:off x="6949440" y="3593592"/>
            <a:ext cx="4846320" cy="685800"/>
          </a:xfrm>
          <a:prstGeom prst="rect">
            <a:avLst/>
          </a:prstGeom>
          <a:noFill/>
          <a:ln/>
        </p:spPr>
        <p:txBody>
          <a:bodyPr wrap="square" lIns="0" tIns="0" rIns="0" bIns="0" rtlCol="0" anchor="ctr"/>
          <a:lstStyle/>
          <a:p>
            <a:pPr indent="0" marL="0">
              <a:buNone/>
            </a:pPr>
            <a:r>
              <a:rPr lang="en-US" sz="1200" dirty="0">
                <a:solidFill>
                  <a:srgbClr val="4A584C"/>
                </a:solidFill>
                <a:latin typeface="Calibri" pitchFamily="34" charset="0"/>
                <a:ea typeface="Calibri" pitchFamily="34" charset="-122"/>
                <a:cs typeface="Calibri" pitchFamily="34" charset="-120"/>
              </a:rPr>
              <a:t>Watch her Mavuno Score rise live as the bag enters the ledger</a:t>
            </a:r>
            <a:endParaRPr lang="en-US" sz="1200" dirty="0"/>
          </a:p>
        </p:txBody>
      </p:sp>
      <p:sp>
        <p:nvSpPr>
          <p:cNvPr id="21" name="Shape 19"/>
          <p:cNvSpPr/>
          <p:nvPr/>
        </p:nvSpPr>
        <p:spPr>
          <a:xfrm>
            <a:off x="548640" y="4773168"/>
            <a:ext cx="502920" cy="502920"/>
          </a:xfrm>
          <a:prstGeom prst="ellipse">
            <a:avLst/>
          </a:prstGeom>
          <a:solidFill>
            <a:srgbClr val="2E7D46"/>
          </a:solidFill>
          <a:ln/>
        </p:spPr>
      </p:sp>
      <p:sp>
        <p:nvSpPr>
          <p:cNvPr id="22" name="Text 20"/>
          <p:cNvSpPr/>
          <p:nvPr/>
        </p:nvSpPr>
        <p:spPr>
          <a:xfrm>
            <a:off x="548640" y="47731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234440" y="4663440"/>
            <a:ext cx="4846320" cy="365760"/>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One-tap loan</a:t>
            </a:r>
            <a:endParaRPr lang="en-US" sz="1600" dirty="0"/>
          </a:p>
        </p:txBody>
      </p:sp>
      <p:sp>
        <p:nvSpPr>
          <p:cNvPr id="24" name="Text 22"/>
          <p:cNvSpPr/>
          <p:nvPr/>
        </p:nvSpPr>
        <p:spPr>
          <a:xfrm>
            <a:off x="1234440" y="5010912"/>
            <a:ext cx="4846320" cy="685800"/>
          </a:xfrm>
          <a:prstGeom prst="rect">
            <a:avLst/>
          </a:prstGeom>
          <a:noFill/>
          <a:ln/>
        </p:spPr>
        <p:txBody>
          <a:bodyPr wrap="square" lIns="0" tIns="0" rIns="0" bIns="0" rtlCol="0" anchor="ctr"/>
          <a:lstStyle/>
          <a:p>
            <a:pPr indent="0" marL="0">
              <a:buNone/>
            </a:pPr>
            <a:r>
              <a:rPr lang="en-US" sz="1200" dirty="0">
                <a:solidFill>
                  <a:srgbClr val="4A584C"/>
                </a:solidFill>
                <a:latin typeface="Calibri" pitchFamily="34" charset="0"/>
                <a:ea typeface="Calibri" pitchFamily="34" charset="-122"/>
                <a:cs typeface="Calibri" pitchFamily="34" charset="-120"/>
              </a:rPr>
              <a:t>KES 50,000 input advance approved against her score. No payslip. No title deed.</a:t>
            </a:r>
            <a:endParaRPr lang="en-US" sz="1200" dirty="0"/>
          </a:p>
        </p:txBody>
      </p:sp>
      <p:sp>
        <p:nvSpPr>
          <p:cNvPr id="25" name="Shape 23"/>
          <p:cNvSpPr/>
          <p:nvPr/>
        </p:nvSpPr>
        <p:spPr>
          <a:xfrm>
            <a:off x="6263640" y="4773168"/>
            <a:ext cx="502920" cy="502920"/>
          </a:xfrm>
          <a:prstGeom prst="ellipse">
            <a:avLst/>
          </a:prstGeom>
          <a:solidFill>
            <a:srgbClr val="2E7D46"/>
          </a:solidFill>
          <a:ln/>
        </p:spPr>
      </p:sp>
      <p:sp>
        <p:nvSpPr>
          <p:cNvPr id="26" name="Text 24"/>
          <p:cNvSpPr/>
          <p:nvPr/>
        </p:nvSpPr>
        <p:spPr>
          <a:xfrm>
            <a:off x="6263640" y="47731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6949440" y="4663440"/>
            <a:ext cx="4846320" cy="365760"/>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USSD finale</a:t>
            </a:r>
            <a:endParaRPr lang="en-US" sz="1600" dirty="0"/>
          </a:p>
        </p:txBody>
      </p:sp>
      <p:sp>
        <p:nvSpPr>
          <p:cNvPr id="28" name="Text 26"/>
          <p:cNvSpPr/>
          <p:nvPr/>
        </p:nvSpPr>
        <p:spPr>
          <a:xfrm>
            <a:off x="6949440" y="5010912"/>
            <a:ext cx="4846320" cy="685800"/>
          </a:xfrm>
          <a:prstGeom prst="rect">
            <a:avLst/>
          </a:prstGeom>
          <a:noFill/>
          <a:ln/>
        </p:spPr>
        <p:txBody>
          <a:bodyPr wrap="square" lIns="0" tIns="0" rIns="0" bIns="0" rtlCol="0" anchor="ctr"/>
          <a:lstStyle/>
          <a:p>
            <a:pPr indent="0" marL="0">
              <a:buNone/>
            </a:pPr>
            <a:r>
              <a:rPr lang="en-US" sz="1200" dirty="0">
                <a:solidFill>
                  <a:srgbClr val="4A584C"/>
                </a:solidFill>
                <a:latin typeface="Calibri" pitchFamily="34" charset="0"/>
                <a:ea typeface="Calibri" pitchFamily="34" charset="-122"/>
                <a:cs typeface="Calibri" pitchFamily="34" charset="-120"/>
              </a:rPr>
              <a:t>The same power on a feature phone, in Kiswahili</a:t>
            </a:r>
            <a:endParaRPr lang="en-US" sz="1200" dirty="0"/>
          </a:p>
        </p:txBody>
      </p:sp>
      <p:sp>
        <p:nvSpPr>
          <p:cNvPr id="29" name="Text 27"/>
          <p:cNvSpPr/>
          <p:nvPr/>
        </p:nvSpPr>
        <p:spPr>
          <a:xfrm>
            <a:off x="548640" y="6172200"/>
            <a:ext cx="11064240" cy="365760"/>
          </a:xfrm>
          <a:prstGeom prst="rect">
            <a:avLst/>
          </a:prstGeom>
          <a:noFill/>
          <a:ln/>
        </p:spPr>
        <p:txBody>
          <a:bodyPr wrap="square" lIns="0" tIns="0" rIns="0" bIns="0" rtlCol="0" anchor="ctr"/>
          <a:lstStyle/>
          <a:p>
            <a:pPr indent="0" marL="0">
              <a:buNone/>
            </a:pPr>
            <a:r>
              <a:rPr lang="en-US" sz="1350" i="1" dirty="0">
                <a:solidFill>
                  <a:srgbClr val="2E7D46"/>
                </a:solidFill>
                <a:latin typeface="Calibri" pitchFamily="34" charset="0"/>
                <a:ea typeface="Calibri" pitchFamily="34" charset="-122"/>
                <a:cs typeface="Calibri" pitchFamily="34" charset="-120"/>
              </a:rPr>
              <a:t>Everything is live software — one command, zero dependencies, no internet required.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THE FINTECH CORE</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Inside the Mavuno Score™</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3</a:t>
            </a:r>
            <a:endParaRPr lang="en-US" sz="1100" dirty="0"/>
          </a:p>
        </p:txBody>
      </p:sp>
      <p:sp>
        <p:nvSpPr>
          <p:cNvPr id="5" name="Shape 3"/>
          <p:cNvSpPr/>
          <p:nvPr/>
        </p:nvSpPr>
        <p:spPr>
          <a:xfrm>
            <a:off x="548640" y="1828800"/>
            <a:ext cx="6766560" cy="676656"/>
          </a:xfrm>
          <a:prstGeom prst="roundRect">
            <a:avLst>
              <a:gd name="adj" fmla="val 9459"/>
            </a:avLst>
          </a:prstGeom>
          <a:solidFill>
            <a:srgbClr val="F1F4EE"/>
          </a:solidFill>
          <a:ln/>
        </p:spPr>
      </p:sp>
      <p:sp>
        <p:nvSpPr>
          <p:cNvPr id="6" name="Text 4"/>
          <p:cNvSpPr/>
          <p:nvPr/>
        </p:nvSpPr>
        <p:spPr>
          <a:xfrm>
            <a:off x="777240" y="1901952"/>
            <a:ext cx="868680" cy="502920"/>
          </a:xfrm>
          <a:prstGeom prst="rect">
            <a:avLst/>
          </a:prstGeom>
          <a:noFill/>
          <a:ln/>
        </p:spPr>
        <p:txBody>
          <a:bodyPr wrap="square" lIns="0" tIns="0" rIns="0" bIns="0" rtlCol="0" anchor="ctr"/>
          <a:lstStyle/>
          <a:p>
            <a:pPr indent="0" marL="0">
              <a:buNone/>
            </a:pPr>
            <a:r>
              <a:rPr lang="en-US" sz="2000" b="1" dirty="0">
                <a:solidFill>
                  <a:srgbClr val="F0A828"/>
                </a:solidFill>
                <a:latin typeface="Bookman Old Style" pitchFamily="34" charset="0"/>
                <a:ea typeface="Bookman Old Style" pitchFamily="34" charset="-122"/>
                <a:cs typeface="Bookman Old Style" pitchFamily="34" charset="-120"/>
              </a:rPr>
              <a:t>25%</a:t>
            </a:r>
            <a:endParaRPr lang="en-US" sz="2000" dirty="0"/>
          </a:p>
        </p:txBody>
      </p:sp>
      <p:sp>
        <p:nvSpPr>
          <p:cNvPr id="7" name="Text 5"/>
          <p:cNvSpPr/>
          <p:nvPr/>
        </p:nvSpPr>
        <p:spPr>
          <a:xfrm>
            <a:off x="1691640" y="1901952"/>
            <a:ext cx="5486400" cy="530352"/>
          </a:xfrm>
          <a:prstGeom prst="rect">
            <a:avLst/>
          </a:prstGeom>
          <a:noFill/>
          <a:ln/>
        </p:spPr>
        <p:txBody>
          <a:bodyPr wrap="square" lIns="0" tIns="0" rIns="0" bIns="0" rtlCol="0" anchor="ctr"/>
          <a:lstStyle/>
          <a:p>
            <a:pPr indent="0" marL="0">
              <a:buNone/>
            </a:pPr>
            <a:r>
              <a:rPr lang="en-US" sz="1250" b="1" dirty="0">
                <a:solidFill>
                  <a:srgbClr val="1C2B21"/>
                </a:solidFill>
                <a:latin typeface="Calibri" pitchFamily="34" charset="0"/>
                <a:ea typeface="Calibri" pitchFamily="34" charset="-122"/>
                <a:cs typeface="Calibri" pitchFamily="34" charset="-120"/>
              </a:rPr>
              <a:t>Season consistency  —  </a:t>
            </a:r>
            <a:pPr indent="0" marL="0">
              <a:buNone/>
            </a:pPr>
            <a:r>
              <a:rPr lang="en-US" sz="1250" dirty="0">
                <a:solidFill>
                  <a:srgbClr val="4A584C"/>
                </a:solidFill>
                <a:latin typeface="Calibri" pitchFamily="34" charset="0"/>
                <a:ea typeface="Calibri" pitchFamily="34" charset="-122"/>
                <a:cs typeface="Calibri" pitchFamily="34" charset="-120"/>
              </a:rPr>
              <a:t>Distinct seasons logged — shows discipline, the #1 repayment predictor</a:t>
            </a:r>
            <a:endParaRPr lang="en-US" sz="1250" dirty="0"/>
          </a:p>
        </p:txBody>
      </p:sp>
      <p:sp>
        <p:nvSpPr>
          <p:cNvPr id="8" name="Shape 6"/>
          <p:cNvSpPr/>
          <p:nvPr/>
        </p:nvSpPr>
        <p:spPr>
          <a:xfrm>
            <a:off x="548640" y="2633472"/>
            <a:ext cx="6766560" cy="676656"/>
          </a:xfrm>
          <a:prstGeom prst="roundRect">
            <a:avLst>
              <a:gd name="adj" fmla="val 9459"/>
            </a:avLst>
          </a:prstGeom>
          <a:solidFill>
            <a:srgbClr val="F1F4EE"/>
          </a:solidFill>
          <a:ln/>
        </p:spPr>
      </p:sp>
      <p:sp>
        <p:nvSpPr>
          <p:cNvPr id="9" name="Text 7"/>
          <p:cNvSpPr/>
          <p:nvPr/>
        </p:nvSpPr>
        <p:spPr>
          <a:xfrm>
            <a:off x="777240" y="2706624"/>
            <a:ext cx="868680" cy="502920"/>
          </a:xfrm>
          <a:prstGeom prst="rect">
            <a:avLst/>
          </a:prstGeom>
          <a:noFill/>
          <a:ln/>
        </p:spPr>
        <p:txBody>
          <a:bodyPr wrap="square" lIns="0" tIns="0" rIns="0" bIns="0" rtlCol="0" anchor="ctr"/>
          <a:lstStyle/>
          <a:p>
            <a:pPr indent="0" marL="0">
              <a:buNone/>
            </a:pPr>
            <a:r>
              <a:rPr lang="en-US" sz="2000" b="1" dirty="0">
                <a:solidFill>
                  <a:srgbClr val="F0A828"/>
                </a:solidFill>
                <a:latin typeface="Bookman Old Style" pitchFamily="34" charset="0"/>
                <a:ea typeface="Bookman Old Style" pitchFamily="34" charset="-122"/>
                <a:cs typeface="Bookman Old Style" pitchFamily="34" charset="-120"/>
              </a:rPr>
              <a:t>20%</a:t>
            </a:r>
            <a:endParaRPr lang="en-US" sz="2000" dirty="0"/>
          </a:p>
        </p:txBody>
      </p:sp>
      <p:sp>
        <p:nvSpPr>
          <p:cNvPr id="10" name="Text 8"/>
          <p:cNvSpPr/>
          <p:nvPr/>
        </p:nvSpPr>
        <p:spPr>
          <a:xfrm>
            <a:off x="1691640" y="2706624"/>
            <a:ext cx="5486400" cy="530352"/>
          </a:xfrm>
          <a:prstGeom prst="rect">
            <a:avLst/>
          </a:prstGeom>
          <a:noFill/>
          <a:ln/>
        </p:spPr>
        <p:txBody>
          <a:bodyPr wrap="square" lIns="0" tIns="0" rIns="0" bIns="0" rtlCol="0" anchor="ctr"/>
          <a:lstStyle/>
          <a:p>
            <a:pPr indent="0" marL="0">
              <a:buNone/>
            </a:pPr>
            <a:r>
              <a:rPr lang="en-US" sz="1250" b="1" dirty="0">
                <a:solidFill>
                  <a:srgbClr val="1C2B21"/>
                </a:solidFill>
                <a:latin typeface="Calibri" pitchFamily="34" charset="0"/>
                <a:ea typeface="Calibri" pitchFamily="34" charset="-122"/>
                <a:cs typeface="Calibri" pitchFamily="34" charset="-120"/>
              </a:rPr>
              <a:t>Yield trend (per crop)  —  </a:t>
            </a:r>
            <a:pPr indent="0" marL="0">
              <a:buNone/>
            </a:pPr>
            <a:r>
              <a:rPr lang="en-US" sz="1250" dirty="0">
                <a:solidFill>
                  <a:srgbClr val="4A584C"/>
                </a:solidFill>
                <a:latin typeface="Calibri" pitchFamily="34" charset="0"/>
                <a:ea typeface="Calibri" pitchFamily="34" charset="-122"/>
                <a:cs typeface="Calibri" pitchFamily="34" charset="-120"/>
              </a:rPr>
              <a:t>Is she getting better at farming? Compared within each crop, fairly</a:t>
            </a:r>
            <a:endParaRPr lang="en-US" sz="1250" dirty="0"/>
          </a:p>
        </p:txBody>
      </p:sp>
      <p:sp>
        <p:nvSpPr>
          <p:cNvPr id="11" name="Shape 9"/>
          <p:cNvSpPr/>
          <p:nvPr/>
        </p:nvSpPr>
        <p:spPr>
          <a:xfrm>
            <a:off x="548640" y="3438144"/>
            <a:ext cx="6766560" cy="676656"/>
          </a:xfrm>
          <a:prstGeom prst="roundRect">
            <a:avLst>
              <a:gd name="adj" fmla="val 9459"/>
            </a:avLst>
          </a:prstGeom>
          <a:solidFill>
            <a:srgbClr val="F1F4EE"/>
          </a:solidFill>
          <a:ln/>
        </p:spPr>
      </p:sp>
      <p:sp>
        <p:nvSpPr>
          <p:cNvPr id="12" name="Text 10"/>
          <p:cNvSpPr/>
          <p:nvPr/>
        </p:nvSpPr>
        <p:spPr>
          <a:xfrm>
            <a:off x="777240" y="3511296"/>
            <a:ext cx="868680" cy="502920"/>
          </a:xfrm>
          <a:prstGeom prst="rect">
            <a:avLst/>
          </a:prstGeom>
          <a:noFill/>
          <a:ln/>
        </p:spPr>
        <p:txBody>
          <a:bodyPr wrap="square" lIns="0" tIns="0" rIns="0" bIns="0" rtlCol="0" anchor="ctr"/>
          <a:lstStyle/>
          <a:p>
            <a:pPr indent="0" marL="0">
              <a:buNone/>
            </a:pPr>
            <a:r>
              <a:rPr lang="en-US" sz="2000" b="1" dirty="0">
                <a:solidFill>
                  <a:srgbClr val="F0A828"/>
                </a:solidFill>
                <a:latin typeface="Bookman Old Style" pitchFamily="34" charset="0"/>
                <a:ea typeface="Bookman Old Style" pitchFamily="34" charset="-122"/>
                <a:cs typeface="Bookman Old Style" pitchFamily="34" charset="-120"/>
              </a:rPr>
              <a:t>20%</a:t>
            </a:r>
            <a:endParaRPr lang="en-US" sz="2000" dirty="0"/>
          </a:p>
        </p:txBody>
      </p:sp>
      <p:sp>
        <p:nvSpPr>
          <p:cNvPr id="13" name="Text 11"/>
          <p:cNvSpPr/>
          <p:nvPr/>
        </p:nvSpPr>
        <p:spPr>
          <a:xfrm>
            <a:off x="1691640" y="3511296"/>
            <a:ext cx="5486400" cy="530352"/>
          </a:xfrm>
          <a:prstGeom prst="rect">
            <a:avLst/>
          </a:prstGeom>
          <a:noFill/>
          <a:ln/>
        </p:spPr>
        <p:txBody>
          <a:bodyPr wrap="square" lIns="0" tIns="0" rIns="0" bIns="0" rtlCol="0" anchor="ctr"/>
          <a:lstStyle/>
          <a:p>
            <a:pPr indent="0" marL="0">
              <a:buNone/>
            </a:pPr>
            <a:r>
              <a:rPr lang="en-US" sz="1250" b="1" dirty="0">
                <a:solidFill>
                  <a:srgbClr val="1C2B21"/>
                </a:solidFill>
                <a:latin typeface="Calibri" pitchFamily="34" charset="0"/>
                <a:ea typeface="Calibri" pitchFamily="34" charset="-122"/>
                <a:cs typeface="Calibri" pitchFamily="34" charset="-120"/>
              </a:rPr>
              <a:t>Market timing  —  </a:t>
            </a:r>
            <a:pPr indent="0" marL="0">
              <a:buNone/>
            </a:pPr>
            <a:r>
              <a:rPr lang="en-US" sz="1250" dirty="0">
                <a:solidFill>
                  <a:srgbClr val="4A584C"/>
                </a:solidFill>
                <a:latin typeface="Calibri" pitchFamily="34" charset="0"/>
                <a:ea typeface="Calibri" pitchFamily="34" charset="-122"/>
                <a:cs typeface="Calibri" pitchFamily="34" charset="-120"/>
              </a:rPr>
              <a:t>Does she sell at fair prices? Proof she uses information well</a:t>
            </a:r>
            <a:endParaRPr lang="en-US" sz="1250" dirty="0"/>
          </a:p>
        </p:txBody>
      </p:sp>
      <p:sp>
        <p:nvSpPr>
          <p:cNvPr id="14" name="Shape 12"/>
          <p:cNvSpPr/>
          <p:nvPr/>
        </p:nvSpPr>
        <p:spPr>
          <a:xfrm>
            <a:off x="548640" y="4242816"/>
            <a:ext cx="6766560" cy="676656"/>
          </a:xfrm>
          <a:prstGeom prst="roundRect">
            <a:avLst>
              <a:gd name="adj" fmla="val 9459"/>
            </a:avLst>
          </a:prstGeom>
          <a:solidFill>
            <a:srgbClr val="F1F4EE"/>
          </a:solidFill>
          <a:ln/>
        </p:spPr>
      </p:sp>
      <p:sp>
        <p:nvSpPr>
          <p:cNvPr id="15" name="Text 13"/>
          <p:cNvSpPr/>
          <p:nvPr/>
        </p:nvSpPr>
        <p:spPr>
          <a:xfrm>
            <a:off x="777240" y="4315968"/>
            <a:ext cx="868680" cy="502920"/>
          </a:xfrm>
          <a:prstGeom prst="rect">
            <a:avLst/>
          </a:prstGeom>
          <a:noFill/>
          <a:ln/>
        </p:spPr>
        <p:txBody>
          <a:bodyPr wrap="square" lIns="0" tIns="0" rIns="0" bIns="0" rtlCol="0" anchor="ctr"/>
          <a:lstStyle/>
          <a:p>
            <a:pPr indent="0" marL="0">
              <a:buNone/>
            </a:pPr>
            <a:r>
              <a:rPr lang="en-US" sz="2000" b="1" dirty="0">
                <a:solidFill>
                  <a:srgbClr val="F0A828"/>
                </a:solidFill>
                <a:latin typeface="Bookman Old Style" pitchFamily="34" charset="0"/>
                <a:ea typeface="Bookman Old Style" pitchFamily="34" charset="-122"/>
                <a:cs typeface="Bookman Old Style" pitchFamily="34" charset="-120"/>
              </a:rPr>
              <a:t>20%</a:t>
            </a:r>
            <a:endParaRPr lang="en-US" sz="2000" dirty="0"/>
          </a:p>
        </p:txBody>
      </p:sp>
      <p:sp>
        <p:nvSpPr>
          <p:cNvPr id="16" name="Text 14"/>
          <p:cNvSpPr/>
          <p:nvPr/>
        </p:nvSpPr>
        <p:spPr>
          <a:xfrm>
            <a:off x="1691640" y="4315968"/>
            <a:ext cx="5486400" cy="530352"/>
          </a:xfrm>
          <a:prstGeom prst="rect">
            <a:avLst/>
          </a:prstGeom>
          <a:noFill/>
          <a:ln/>
        </p:spPr>
        <p:txBody>
          <a:bodyPr wrap="square" lIns="0" tIns="0" rIns="0" bIns="0" rtlCol="0" anchor="ctr"/>
          <a:lstStyle/>
          <a:p>
            <a:pPr indent="0" marL="0">
              <a:buNone/>
            </a:pPr>
            <a:r>
              <a:rPr lang="en-US" sz="1250" b="1" dirty="0">
                <a:solidFill>
                  <a:srgbClr val="1C2B21"/>
                </a:solidFill>
                <a:latin typeface="Calibri" pitchFamily="34" charset="0"/>
                <a:ea typeface="Calibri" pitchFamily="34" charset="-122"/>
                <a:cs typeface="Calibri" pitchFamily="34" charset="-120"/>
              </a:rPr>
              <a:t>Repayment record  —  </a:t>
            </a:r>
            <a:pPr indent="0" marL="0">
              <a:buNone/>
            </a:pPr>
            <a:r>
              <a:rPr lang="en-US" sz="1250" dirty="0">
                <a:solidFill>
                  <a:srgbClr val="4A584C"/>
                </a:solidFill>
                <a:latin typeface="Calibri" pitchFamily="34" charset="0"/>
                <a:ea typeface="Calibri" pitchFamily="34" charset="-122"/>
                <a:cs typeface="Calibri" pitchFamily="34" charset="-120"/>
              </a:rPr>
              <a:t>Neutral start; repaid loans raise it, active loans discount it</a:t>
            </a:r>
            <a:endParaRPr lang="en-US" sz="1250" dirty="0"/>
          </a:p>
        </p:txBody>
      </p:sp>
      <p:sp>
        <p:nvSpPr>
          <p:cNvPr id="17" name="Shape 15"/>
          <p:cNvSpPr/>
          <p:nvPr/>
        </p:nvSpPr>
        <p:spPr>
          <a:xfrm>
            <a:off x="548640" y="5047488"/>
            <a:ext cx="6766560" cy="676656"/>
          </a:xfrm>
          <a:prstGeom prst="roundRect">
            <a:avLst>
              <a:gd name="adj" fmla="val 9459"/>
            </a:avLst>
          </a:prstGeom>
          <a:solidFill>
            <a:srgbClr val="F1F4EE"/>
          </a:solidFill>
          <a:ln/>
        </p:spPr>
      </p:sp>
      <p:sp>
        <p:nvSpPr>
          <p:cNvPr id="18" name="Text 16"/>
          <p:cNvSpPr/>
          <p:nvPr/>
        </p:nvSpPr>
        <p:spPr>
          <a:xfrm>
            <a:off x="777240" y="5120640"/>
            <a:ext cx="868680" cy="502920"/>
          </a:xfrm>
          <a:prstGeom prst="rect">
            <a:avLst/>
          </a:prstGeom>
          <a:noFill/>
          <a:ln/>
        </p:spPr>
        <p:txBody>
          <a:bodyPr wrap="square" lIns="0" tIns="0" rIns="0" bIns="0" rtlCol="0" anchor="ctr"/>
          <a:lstStyle/>
          <a:p>
            <a:pPr indent="0" marL="0">
              <a:buNone/>
            </a:pPr>
            <a:r>
              <a:rPr lang="en-US" sz="2000" b="1" dirty="0">
                <a:solidFill>
                  <a:srgbClr val="F0A828"/>
                </a:solidFill>
                <a:latin typeface="Bookman Old Style" pitchFamily="34" charset="0"/>
                <a:ea typeface="Bookman Old Style" pitchFamily="34" charset="-122"/>
                <a:cs typeface="Bookman Old Style" pitchFamily="34" charset="-120"/>
              </a:rPr>
              <a:t>15%</a:t>
            </a:r>
            <a:endParaRPr lang="en-US" sz="2000" dirty="0"/>
          </a:p>
        </p:txBody>
      </p:sp>
      <p:sp>
        <p:nvSpPr>
          <p:cNvPr id="19" name="Text 17"/>
          <p:cNvSpPr/>
          <p:nvPr/>
        </p:nvSpPr>
        <p:spPr>
          <a:xfrm>
            <a:off x="1691640" y="5120640"/>
            <a:ext cx="5486400" cy="530352"/>
          </a:xfrm>
          <a:prstGeom prst="rect">
            <a:avLst/>
          </a:prstGeom>
          <a:noFill/>
          <a:ln/>
        </p:spPr>
        <p:txBody>
          <a:bodyPr wrap="square" lIns="0" tIns="0" rIns="0" bIns="0" rtlCol="0" anchor="ctr"/>
          <a:lstStyle/>
          <a:p>
            <a:pPr indent="0" marL="0">
              <a:buNone/>
            </a:pPr>
            <a:r>
              <a:rPr lang="en-US" sz="1250" b="1" dirty="0">
                <a:solidFill>
                  <a:srgbClr val="1C2B21"/>
                </a:solidFill>
                <a:latin typeface="Calibri" pitchFamily="34" charset="0"/>
                <a:ea typeface="Calibri" pitchFamily="34" charset="-122"/>
                <a:cs typeface="Calibri" pitchFamily="34" charset="-120"/>
              </a:rPr>
              <a:t>Crop diversification  —  </a:t>
            </a:r>
            <a:pPr indent="0" marL="0">
              <a:buNone/>
            </a:pPr>
            <a:r>
              <a:rPr lang="en-US" sz="1250" dirty="0">
                <a:solidFill>
                  <a:srgbClr val="4A584C"/>
                </a:solidFill>
                <a:latin typeface="Calibri" pitchFamily="34" charset="0"/>
                <a:ea typeface="Calibri" pitchFamily="34" charset="-122"/>
                <a:cs typeface="Calibri" pitchFamily="34" charset="-120"/>
              </a:rPr>
              <a:t>More crops = lower covariate risk for the lender</a:t>
            </a:r>
            <a:endParaRPr lang="en-US" sz="1250" dirty="0"/>
          </a:p>
        </p:txBody>
      </p:sp>
      <p:sp>
        <p:nvSpPr>
          <p:cNvPr id="20" name="Shape 18"/>
          <p:cNvSpPr/>
          <p:nvPr/>
        </p:nvSpPr>
        <p:spPr>
          <a:xfrm>
            <a:off x="7635240" y="1828800"/>
            <a:ext cx="4005072" cy="3913632"/>
          </a:xfrm>
          <a:prstGeom prst="roundRect">
            <a:avLst>
              <a:gd name="adj" fmla="val 2103"/>
            </a:avLst>
          </a:prstGeom>
          <a:solidFill>
            <a:srgbClr val="12261A"/>
          </a:solidFill>
          <a:ln/>
        </p:spPr>
      </p:sp>
      <p:sp>
        <p:nvSpPr>
          <p:cNvPr id="21" name="Text 19"/>
          <p:cNvSpPr/>
          <p:nvPr/>
        </p:nvSpPr>
        <p:spPr>
          <a:xfrm>
            <a:off x="7635240" y="2286000"/>
            <a:ext cx="4005072" cy="1005840"/>
          </a:xfrm>
          <a:prstGeom prst="rect">
            <a:avLst/>
          </a:prstGeom>
          <a:noFill/>
          <a:ln/>
        </p:spPr>
        <p:txBody>
          <a:bodyPr wrap="square" lIns="0" tIns="0" rIns="0" bIns="0" rtlCol="0" anchor="ctr"/>
          <a:lstStyle/>
          <a:p>
            <a:pPr algn="ctr" indent="0" marL="0">
              <a:buNone/>
            </a:pPr>
            <a:r>
              <a:rPr lang="en-US" sz="6400" b="1" dirty="0">
                <a:solidFill>
                  <a:srgbClr val="F0A828"/>
                </a:solidFill>
                <a:latin typeface="Bookman Old Style" pitchFamily="34" charset="0"/>
                <a:ea typeface="Bookman Old Style" pitchFamily="34" charset="-122"/>
                <a:cs typeface="Bookman Old Style" pitchFamily="34" charset="-120"/>
              </a:rPr>
              <a:t>733</a:t>
            </a:r>
            <a:endParaRPr lang="en-US" sz="6400" dirty="0"/>
          </a:p>
        </p:txBody>
      </p:sp>
      <p:sp>
        <p:nvSpPr>
          <p:cNvPr id="22" name="Text 20"/>
          <p:cNvSpPr/>
          <p:nvPr/>
        </p:nvSpPr>
        <p:spPr>
          <a:xfrm>
            <a:off x="7635240" y="3383280"/>
            <a:ext cx="4005072" cy="320040"/>
          </a:xfrm>
          <a:prstGeom prst="rect">
            <a:avLst/>
          </a:prstGeom>
          <a:noFill/>
          <a:ln/>
        </p:spPr>
        <p:txBody>
          <a:bodyPr wrap="square" lIns="0" tIns="0" rIns="0" bIns="0" rtlCol="0" anchor="ctr"/>
          <a:lstStyle/>
          <a:p>
            <a:pPr algn="ctr" indent="0" marL="0">
              <a:buNone/>
            </a:pPr>
            <a:r>
              <a:rPr lang="en-US" sz="1100" spc="200" kern="0" dirty="0">
                <a:solidFill>
                  <a:srgbClr val="BDB79F"/>
                </a:solidFill>
                <a:latin typeface="Calibri" pitchFamily="34" charset="0"/>
                <a:ea typeface="Calibri" pitchFamily="34" charset="-122"/>
                <a:cs typeface="Calibri" pitchFamily="34" charset="-120"/>
              </a:rPr>
              <a:t>AMINA'S SCORE · BAND 300–850</a:t>
            </a:r>
            <a:endParaRPr lang="en-US" sz="1100" dirty="0"/>
          </a:p>
        </p:txBody>
      </p:sp>
      <p:sp>
        <p:nvSpPr>
          <p:cNvPr id="23" name="Text 21"/>
          <p:cNvSpPr/>
          <p:nvPr/>
        </p:nvSpPr>
        <p:spPr>
          <a:xfrm>
            <a:off x="7909560" y="3886200"/>
            <a:ext cx="3474720" cy="1280160"/>
          </a:xfrm>
          <a:prstGeom prst="rect">
            <a:avLst/>
          </a:prstGeom>
          <a:noFill/>
          <a:ln/>
        </p:spPr>
        <p:txBody>
          <a:bodyPr wrap="square" lIns="0" tIns="0" rIns="0" bIns="0" rtlCol="0" anchor="ctr"/>
          <a:lstStyle/>
          <a:p>
            <a:pPr algn="ctr" indent="0" marL="0">
              <a:buNone/>
            </a:pPr>
            <a:r>
              <a:rPr lang="en-US" sz="1300" dirty="0">
                <a:solidFill>
                  <a:srgbClr val="F2ECD9"/>
                </a:solidFill>
                <a:latin typeface="Calibri" pitchFamily="34" charset="0"/>
                <a:ea typeface="Calibri" pitchFamily="34" charset="-122"/>
                <a:cs typeface="Calibri" pitchFamily="34" charset="-120"/>
              </a:rPr>
              <a:t>Prime Harvester tier</a:t>
            </a:r>
            <a:endParaRPr lang="en-US" sz="1300" dirty="0"/>
          </a:p>
          <a:p>
            <a:pPr algn="ctr" indent="0" marL="0">
              <a:buNone/>
            </a:pPr>
            <a:r>
              <a:rPr lang="en-US" sz="1300" dirty="0">
                <a:solidFill>
                  <a:srgbClr val="F2ECD9"/>
                </a:solidFill>
                <a:latin typeface="Calibri" pitchFamily="34" charset="0"/>
                <a:ea typeface="Calibri" pitchFamily="34" charset="-122"/>
                <a:cs typeface="Calibri" pitchFamily="34" charset="-120"/>
              </a:rPr>
              <a:t>→ KES 50,000 inputs advance @ 1.2%/mo</a:t>
            </a:r>
            <a:endParaRPr lang="en-US" sz="1300" dirty="0"/>
          </a:p>
          <a:p>
            <a:pPr algn="ctr" indent="0" marL="0">
              <a:buNone/>
            </a:pPr>
            <a:r>
              <a:rPr lang="en-US" sz="1300" dirty="0">
                <a:solidFill>
                  <a:srgbClr val="F2ECD9"/>
                </a:solidFill>
                <a:latin typeface="Calibri" pitchFamily="34" charset="0"/>
                <a:ea typeface="Calibri" pitchFamily="34" charset="-122"/>
                <a:cs typeface="Calibri" pitchFamily="34" charset="-120"/>
              </a:rPr>
              <a:t>→ KES 120,000 equipment loan @ 1.5%/mo</a:t>
            </a:r>
            <a:endParaRPr lang="en-US" sz="1300" dirty="0"/>
          </a:p>
        </p:txBody>
      </p:sp>
      <p:sp>
        <p:nvSpPr>
          <p:cNvPr id="24" name="Text 22"/>
          <p:cNvSpPr/>
          <p:nvPr/>
        </p:nvSpPr>
        <p:spPr>
          <a:xfrm>
            <a:off x="548640" y="6035040"/>
            <a:ext cx="11064240" cy="502920"/>
          </a:xfrm>
          <a:prstGeom prst="rect">
            <a:avLst/>
          </a:prstGeom>
          <a:noFill/>
          <a:ln/>
        </p:spPr>
        <p:txBody>
          <a:bodyPr wrap="square" lIns="0" tIns="0" rIns="0" bIns="0" rtlCol="0" anchor="ctr"/>
          <a:lstStyle/>
          <a:p>
            <a:pPr indent="0" marL="0">
              <a:buNone/>
            </a:pPr>
            <a:r>
              <a:rPr lang="en-US" sz="1400" i="1" dirty="0">
                <a:solidFill>
                  <a:srgbClr val="2E7D46"/>
                </a:solidFill>
                <a:latin typeface="Calibri" pitchFamily="34" charset="0"/>
                <a:ea typeface="Calibri" pitchFamily="34" charset="-122"/>
                <a:cs typeface="Calibri" pitchFamily="34" charset="-120"/>
              </a:rPr>
              <a:t>Transparent by design: the farmer sees every factor and how to improve it — unlike satellite or telco black-box scoring.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WHY KENYA, WHY NOW</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Four forces converge on this moment</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4</a:t>
            </a:r>
            <a:endParaRPr lang="en-US" sz="1100" dirty="0"/>
          </a:p>
        </p:txBody>
      </p:sp>
      <p:sp>
        <p:nvSpPr>
          <p:cNvPr id="5" name="Shape 3"/>
          <p:cNvSpPr/>
          <p:nvPr/>
        </p:nvSpPr>
        <p:spPr>
          <a:xfrm>
            <a:off x="548640" y="1920240"/>
            <a:ext cx="566928" cy="566928"/>
          </a:xfrm>
          <a:prstGeom prst="ellipse">
            <a:avLst/>
          </a:prstGeom>
          <a:solidFill>
            <a:srgbClr val="F0A828"/>
          </a:solidFill>
          <a:ln/>
        </p:spPr>
      </p:sp>
      <p:sp>
        <p:nvSpPr>
          <p:cNvPr id="6" name="Text 4"/>
          <p:cNvSpPr/>
          <p:nvPr/>
        </p:nvSpPr>
        <p:spPr>
          <a:xfrm>
            <a:off x="493776" y="189280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298448" y="1865376"/>
            <a:ext cx="473659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The credit gap is national policy</a:t>
            </a:r>
            <a:endParaRPr lang="en-US" sz="1600" dirty="0"/>
          </a:p>
        </p:txBody>
      </p:sp>
      <p:sp>
        <p:nvSpPr>
          <p:cNvPr id="8" name="Text 6"/>
          <p:cNvSpPr/>
          <p:nvPr/>
        </p:nvSpPr>
        <p:spPr>
          <a:xfrm>
            <a:off x="1298448" y="2194560"/>
            <a:ext cx="473659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Agriculture: ~21.8% of GDP, under 4% of bank credit. Closing this gap is explicit in the Bottom-Up Economic Transformation Agenda.</a:t>
            </a:r>
            <a:endParaRPr lang="en-US" sz="1250" dirty="0"/>
          </a:p>
        </p:txBody>
      </p:sp>
      <p:sp>
        <p:nvSpPr>
          <p:cNvPr id="9" name="Shape 7"/>
          <p:cNvSpPr/>
          <p:nvPr/>
        </p:nvSpPr>
        <p:spPr>
          <a:xfrm>
            <a:off x="548640" y="3429000"/>
            <a:ext cx="566928" cy="566928"/>
          </a:xfrm>
          <a:prstGeom prst="ellipse">
            <a:avLst/>
          </a:prstGeom>
          <a:solidFill>
            <a:srgbClr val="F0A828"/>
          </a:solidFill>
          <a:ln/>
        </p:spPr>
      </p:sp>
      <p:sp>
        <p:nvSpPr>
          <p:cNvPr id="10" name="Text 8"/>
          <p:cNvSpPr/>
          <p:nvPr/>
        </p:nvSpPr>
        <p:spPr>
          <a:xfrm>
            <a:off x="493776" y="340156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1298448" y="3374136"/>
            <a:ext cx="473659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Behavioural scoring is already normal</a:t>
            </a:r>
            <a:endParaRPr lang="en-US" sz="1600" dirty="0"/>
          </a:p>
        </p:txBody>
      </p:sp>
      <p:sp>
        <p:nvSpPr>
          <p:cNvPr id="12" name="Text 10"/>
          <p:cNvSpPr/>
          <p:nvPr/>
        </p:nvSpPr>
        <p:spPr>
          <a:xfrm>
            <a:off x="1298448" y="3703320"/>
            <a:ext cx="473659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M-Shwari, Fuliza and the Hustler Fund bank tens of millions on behavioural data. A harvest-based score extends a proven Kenyan model.</a:t>
            </a:r>
            <a:endParaRPr lang="en-US" sz="1250" dirty="0"/>
          </a:p>
        </p:txBody>
      </p:sp>
      <p:sp>
        <p:nvSpPr>
          <p:cNvPr id="13" name="Shape 11"/>
          <p:cNvSpPr/>
          <p:nvPr/>
        </p:nvSpPr>
        <p:spPr>
          <a:xfrm>
            <a:off x="6309360" y="1920240"/>
            <a:ext cx="566928" cy="566928"/>
          </a:xfrm>
          <a:prstGeom prst="ellipse">
            <a:avLst/>
          </a:prstGeom>
          <a:solidFill>
            <a:srgbClr val="F0A828"/>
          </a:solidFill>
          <a:ln/>
        </p:spPr>
      </p:sp>
      <p:sp>
        <p:nvSpPr>
          <p:cNvPr id="14" name="Text 12"/>
          <p:cNvSpPr/>
          <p:nvPr/>
        </p:nvSpPr>
        <p:spPr>
          <a:xfrm>
            <a:off x="6254496" y="189280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7059168" y="1865376"/>
            <a:ext cx="473659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The rails are already laid</a:t>
            </a:r>
            <a:endParaRPr lang="en-US" sz="1600" dirty="0"/>
          </a:p>
        </p:txBody>
      </p:sp>
      <p:sp>
        <p:nvSpPr>
          <p:cNvPr id="16" name="Text 14"/>
          <p:cNvSpPr/>
          <p:nvPr/>
        </p:nvSpPr>
        <p:spPr>
          <a:xfrm>
            <a:off x="7059168" y="2194560"/>
            <a:ext cx="473659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30M+ M-PESA users for instant disbursement; USSD reaches every feature phone; KAMIS price data exists and needs a farmer-facing layer.</a:t>
            </a:r>
            <a:endParaRPr lang="en-US" sz="1250" dirty="0"/>
          </a:p>
        </p:txBody>
      </p:sp>
      <p:sp>
        <p:nvSpPr>
          <p:cNvPr id="17" name="Shape 15"/>
          <p:cNvSpPr/>
          <p:nvPr/>
        </p:nvSpPr>
        <p:spPr>
          <a:xfrm>
            <a:off x="6309360" y="3429000"/>
            <a:ext cx="566928" cy="566928"/>
          </a:xfrm>
          <a:prstGeom prst="ellipse">
            <a:avLst/>
          </a:prstGeom>
          <a:solidFill>
            <a:srgbClr val="F0A828"/>
          </a:solidFill>
          <a:ln/>
        </p:spPr>
      </p:sp>
      <p:sp>
        <p:nvSpPr>
          <p:cNvPr id="18" name="Text 16"/>
          <p:cNvSpPr/>
          <p:nvPr/>
        </p:nvSpPr>
        <p:spPr>
          <a:xfrm>
            <a:off x="6254496" y="340156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7059168" y="3374136"/>
            <a:ext cx="4736592" cy="329184"/>
          </a:xfrm>
          <a:prstGeom prst="rect">
            <a:avLst/>
          </a:prstGeom>
          <a:noFill/>
          <a:ln/>
        </p:spPr>
        <p:txBody>
          <a:bodyPr wrap="square" lIns="0" tIns="0" rIns="0" bIns="0" rtlCol="0" anchor="ctr"/>
          <a:lstStyle/>
          <a:p>
            <a:pPr indent="0" marL="0">
              <a:buNone/>
            </a:pPr>
            <a:r>
              <a:rPr lang="en-US" sz="1600" b="1" dirty="0">
                <a:solidFill>
                  <a:srgbClr val="1C2B21"/>
                </a:solidFill>
                <a:latin typeface="Calibri" pitchFamily="34" charset="0"/>
                <a:ea typeface="Calibri" pitchFamily="34" charset="-122"/>
                <a:cs typeface="Calibri" pitchFamily="34" charset="-120"/>
              </a:rPr>
              <a:t>Food security is urgent</a:t>
            </a:r>
            <a:endParaRPr lang="en-US" sz="1600" dirty="0"/>
          </a:p>
        </p:txBody>
      </p:sp>
      <p:sp>
        <p:nvSpPr>
          <p:cNvPr id="20" name="Text 18"/>
          <p:cNvSpPr/>
          <p:nvPr/>
        </p:nvSpPr>
        <p:spPr>
          <a:xfrm>
            <a:off x="7059168" y="3703320"/>
            <a:ext cx="4736592" cy="685800"/>
          </a:xfrm>
          <a:prstGeom prst="rect">
            <a:avLst/>
          </a:prstGeom>
          <a:noFill/>
          <a:ln/>
        </p:spPr>
        <p:txBody>
          <a:bodyPr wrap="square" lIns="0" tIns="0" rIns="0" bIns="0" rtlCol="0" anchor="ctr"/>
          <a:lstStyle/>
          <a:p>
            <a:pPr indent="0" marL="0">
              <a:buNone/>
            </a:pPr>
            <a:r>
              <a:rPr lang="en-US" sz="1250" dirty="0">
                <a:solidFill>
                  <a:srgbClr val="4A584C"/>
                </a:solidFill>
                <a:latin typeface="Calibri" pitchFamily="34" charset="0"/>
                <a:ea typeface="Calibri" pitchFamily="34" charset="-122"/>
                <a:cs typeface="Calibri" pitchFamily="34" charset="-120"/>
              </a:rPr>
              <a:t>After the worst drought in 40 years, every percentage point of yield saved by early diagnosis is national food supply.</a:t>
            </a:r>
            <a:endParaRPr lang="en-US" sz="1250" dirty="0"/>
          </a:p>
        </p:txBody>
      </p:sp>
      <p:sp>
        <p:nvSpPr>
          <p:cNvPr id="21" name="Shape 19"/>
          <p:cNvSpPr/>
          <p:nvPr/>
        </p:nvSpPr>
        <p:spPr>
          <a:xfrm>
            <a:off x="548640" y="5029200"/>
            <a:ext cx="11109960" cy="1325880"/>
          </a:xfrm>
          <a:prstGeom prst="roundRect">
            <a:avLst>
              <a:gd name="adj" fmla="val 6207"/>
            </a:avLst>
          </a:prstGeom>
          <a:solidFill>
            <a:srgbClr val="12261A"/>
          </a:solidFill>
          <a:ln/>
        </p:spPr>
      </p:sp>
      <p:sp>
        <p:nvSpPr>
          <p:cNvPr id="22" name="Text 20"/>
          <p:cNvSpPr/>
          <p:nvPr/>
        </p:nvSpPr>
        <p:spPr>
          <a:xfrm>
            <a:off x="868680" y="5212080"/>
            <a:ext cx="10515600" cy="960120"/>
          </a:xfrm>
          <a:prstGeom prst="rect">
            <a:avLst/>
          </a:prstGeom>
          <a:noFill/>
          <a:ln/>
        </p:spPr>
        <p:txBody>
          <a:bodyPr wrap="square" lIns="0" tIns="0" rIns="0" bIns="0" rtlCol="0" anchor="ctr"/>
          <a:lstStyle/>
          <a:p>
            <a:pPr indent="0" marL="0">
              <a:buNone/>
            </a:pPr>
            <a:r>
              <a:rPr lang="en-US" sz="1500" b="1" dirty="0">
                <a:solidFill>
                  <a:srgbClr val="F0A828"/>
                </a:solidFill>
                <a:latin typeface="Calibri" pitchFamily="34" charset="0"/>
                <a:ea typeface="Calibri" pitchFamily="34" charset="-122"/>
                <a:cs typeface="Calibri" pitchFamily="34" charset="-120"/>
              </a:rPr>
              <a:t>The market: </a:t>
            </a:r>
            <a:pPr indent="0" marL="0">
              <a:buNone/>
            </a:pPr>
            <a:r>
              <a:rPr lang="en-US" sz="1500" dirty="0">
                <a:solidFill>
                  <a:srgbClr val="F2ECD9"/>
                </a:solidFill>
                <a:latin typeface="Calibri" pitchFamily="34" charset="0"/>
                <a:ea typeface="Calibri" pitchFamily="34" charset="-122"/>
                <a:cs typeface="Calibri" pitchFamily="34" charset="-120"/>
              </a:rPr>
              <a:t>4.5 million smallholder households. If MavunoAI reaches 5% of them with an average loan book of KES 15,000, that is a </a:t>
            </a:r>
            <a:pPr indent="0" marL="0">
              <a:buNone/>
            </a:pPr>
            <a:r>
              <a:rPr lang="en-US" sz="1500" b="1" dirty="0">
                <a:solidFill>
                  <a:srgbClr val="F0A828"/>
                </a:solidFill>
                <a:latin typeface="Calibri" pitchFamily="34" charset="0"/>
                <a:ea typeface="Calibri" pitchFamily="34" charset="-122"/>
                <a:cs typeface="Calibri" pitchFamily="34" charset="-120"/>
              </a:rPr>
              <a:t>KES 3.4 billion lending market</a:t>
            </a:r>
            <a:pPr indent="0" marL="0">
              <a:buNone/>
            </a:pPr>
            <a:r>
              <a:rPr lang="en-US" sz="1500" dirty="0">
                <a:solidFill>
                  <a:srgbClr val="F2ECD9"/>
                </a:solidFill>
                <a:latin typeface="Calibri" pitchFamily="34" charset="0"/>
                <a:ea typeface="Calibri" pitchFamily="34" charset="-122"/>
                <a:cs typeface="Calibri" pitchFamily="34" charset="-120"/>
              </a:rPr>
              <a:t> — before a single shilling of input-supplier commission or insurance premium.</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THE GAP IN ONE PICTURE</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A fifth of the economy, a fortieth of the credit</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4</a:t>
            </a:r>
            <a:endParaRPr lang="en-US" sz="1100" dirty="0"/>
          </a:p>
        </p:txBody>
      </p:sp>
      <p:graphicFrame>
        <p:nvGraphicFramePr>
          <p:cNvPr id="5" name="Chart 0" descr=""/>
          <p:cNvGraphicFramePr/>
          <p:nvPr/>
        </p:nvGraphicFramePr>
        <p:xfrm>
          <a:off x="1280160" y="1828800"/>
          <a:ext cx="960120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280160" y="5943600"/>
            <a:ext cx="9601200" cy="320040"/>
          </a:xfrm>
          <a:prstGeom prst="rect">
            <a:avLst/>
          </a:prstGeom>
          <a:noFill/>
          <a:ln/>
        </p:spPr>
        <p:txBody>
          <a:bodyPr wrap="square" lIns="0" tIns="0" rIns="0" bIns="0" rtlCol="0" anchor="ctr"/>
          <a:lstStyle/>
          <a:p>
            <a:pPr indent="0" marL="0">
              <a:buNone/>
            </a:pPr>
            <a:r>
              <a:rPr lang="en-US" sz="1050" dirty="0">
                <a:solidFill>
                  <a:srgbClr val="8A9A8D"/>
                </a:solidFill>
                <a:latin typeface="Calibri" pitchFamily="34" charset="0"/>
                <a:ea typeface="Calibri" pitchFamily="34" charset="-122"/>
                <a:cs typeface="Calibri" pitchFamily="34" charset="-120"/>
              </a:rPr>
              <a:t>Sources: KNBS Economic Survey; Central Bank of Kenya Bank Supervision Annual Report.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61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F0A828"/>
                </a:solidFill>
                <a:latin typeface="Calibri" pitchFamily="34" charset="0"/>
                <a:ea typeface="Calibri" pitchFamily="34" charset="-122"/>
                <a:cs typeface="Calibri" pitchFamily="34" charset="-120"/>
              </a:rPr>
              <a:t>ENGINEERING RIGOUR</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F2ECD9"/>
                </a:solidFill>
                <a:latin typeface="Bookman Old Style" pitchFamily="34" charset="0"/>
                <a:ea typeface="Bookman Old Style" pitchFamily="34" charset="-122"/>
                <a:cs typeface="Bookman Old Style" pitchFamily="34" charset="-120"/>
              </a:rPr>
              <a:t>Built like production software, not a demo</a:t>
            </a:r>
            <a:endParaRPr lang="en-US" sz="3400" dirty="0"/>
          </a:p>
        </p:txBody>
      </p:sp>
      <p:sp>
        <p:nvSpPr>
          <p:cNvPr id="4" name="Shape 2"/>
          <p:cNvSpPr/>
          <p:nvPr/>
        </p:nvSpPr>
        <p:spPr>
          <a:xfrm>
            <a:off x="548640" y="1828800"/>
            <a:ext cx="3611880" cy="2011680"/>
          </a:xfrm>
          <a:prstGeom prst="roundRect">
            <a:avLst>
              <a:gd name="adj" fmla="val 4091"/>
            </a:avLst>
          </a:prstGeom>
          <a:solidFill>
            <a:srgbClr val="1C3325"/>
          </a:solidFill>
          <a:ln/>
        </p:spPr>
      </p:sp>
      <p:sp>
        <p:nvSpPr>
          <p:cNvPr id="5" name="Text 3"/>
          <p:cNvSpPr/>
          <p:nvPr/>
        </p:nvSpPr>
        <p:spPr>
          <a:xfrm>
            <a:off x="777240" y="2029968"/>
            <a:ext cx="3154680" cy="885139"/>
          </a:xfrm>
          <a:prstGeom prst="rect">
            <a:avLst/>
          </a:prstGeom>
          <a:noFill/>
          <a:ln/>
        </p:spPr>
        <p:txBody>
          <a:bodyPr wrap="square" lIns="0" tIns="0" rIns="0" bIns="0" rtlCol="0" anchor="ctr"/>
          <a:lstStyle/>
          <a:p>
            <a:pPr indent="0" marL="0">
              <a:buNone/>
            </a:pPr>
            <a:r>
              <a:rPr lang="en-US" sz="4000" b="1" dirty="0">
                <a:solidFill>
                  <a:srgbClr val="F0A828"/>
                </a:solidFill>
                <a:latin typeface="Bookman Old Style" pitchFamily="34" charset="0"/>
                <a:ea typeface="Bookman Old Style" pitchFamily="34" charset="-122"/>
                <a:cs typeface="Bookman Old Style" pitchFamily="34" charset="-120"/>
              </a:rPr>
              <a:t>29 / 29</a:t>
            </a:r>
            <a:endParaRPr lang="en-US" sz="4000" dirty="0"/>
          </a:p>
        </p:txBody>
      </p:sp>
      <p:sp>
        <p:nvSpPr>
          <p:cNvPr id="6" name="Text 4"/>
          <p:cNvSpPr/>
          <p:nvPr/>
        </p:nvSpPr>
        <p:spPr>
          <a:xfrm>
            <a:off x="777240" y="2874874"/>
            <a:ext cx="3154680" cy="365760"/>
          </a:xfrm>
          <a:prstGeom prst="rect">
            <a:avLst/>
          </a:prstGeom>
          <a:noFill/>
          <a:ln/>
        </p:spPr>
        <p:txBody>
          <a:bodyPr wrap="square" lIns="0" tIns="0" rIns="0" bIns="0" rtlCol="0" anchor="ctr"/>
          <a:lstStyle/>
          <a:p>
            <a:pPr indent="0" marL="0">
              <a:buNone/>
            </a:pPr>
            <a:r>
              <a:rPr lang="en-US" sz="1500" b="1" dirty="0">
                <a:solidFill>
                  <a:srgbClr val="F2ECD9"/>
                </a:solidFill>
                <a:latin typeface="Calibri" pitchFamily="34" charset="0"/>
                <a:ea typeface="Calibri" pitchFamily="34" charset="-122"/>
                <a:cs typeface="Calibri" pitchFamily="34" charset="-120"/>
              </a:rPr>
              <a:t>automated tests passing</a:t>
            </a:r>
            <a:endParaRPr lang="en-US" sz="1500" dirty="0"/>
          </a:p>
        </p:txBody>
      </p:sp>
      <p:sp>
        <p:nvSpPr>
          <p:cNvPr id="7" name="Text 5"/>
          <p:cNvSpPr/>
          <p:nvPr/>
        </p:nvSpPr>
        <p:spPr>
          <a:xfrm>
            <a:off x="777240" y="3240634"/>
            <a:ext cx="3154680" cy="462686"/>
          </a:xfrm>
          <a:prstGeom prst="rect">
            <a:avLst/>
          </a:prstGeom>
          <a:noFill/>
          <a:ln/>
        </p:spPr>
        <p:txBody>
          <a:bodyPr wrap="square" lIns="0" tIns="0" rIns="0" bIns="0" rtlCol="0" anchor="ctr"/>
          <a:lstStyle/>
          <a:p>
            <a:pPr indent="0" marL="0">
              <a:buNone/>
            </a:pPr>
            <a:r>
              <a:rPr lang="en-US" sz="1150" dirty="0">
                <a:solidFill>
                  <a:srgbClr val="BDB79F"/>
                </a:solidFill>
                <a:latin typeface="Calibri" pitchFamily="34" charset="0"/>
                <a:ea typeface="Calibri" pitchFamily="34" charset="-122"/>
                <a:cs typeface="Calibri" pitchFamily="34" charset="-120"/>
              </a:rPr>
              <a:t>Every endpoint, the scoring engine, validation, security and concurrency — reproducible with one command.</a:t>
            </a:r>
            <a:endParaRPr lang="en-US" sz="1150" dirty="0"/>
          </a:p>
        </p:txBody>
      </p:sp>
      <p:sp>
        <p:nvSpPr>
          <p:cNvPr id="8" name="Shape 6"/>
          <p:cNvSpPr/>
          <p:nvPr/>
        </p:nvSpPr>
        <p:spPr>
          <a:xfrm>
            <a:off x="4288536" y="1828800"/>
            <a:ext cx="3611880" cy="2011680"/>
          </a:xfrm>
          <a:prstGeom prst="roundRect">
            <a:avLst>
              <a:gd name="adj" fmla="val 4091"/>
            </a:avLst>
          </a:prstGeom>
          <a:solidFill>
            <a:srgbClr val="1C3325"/>
          </a:solidFill>
          <a:ln/>
        </p:spPr>
      </p:sp>
      <p:sp>
        <p:nvSpPr>
          <p:cNvPr id="9" name="Text 7"/>
          <p:cNvSpPr/>
          <p:nvPr/>
        </p:nvSpPr>
        <p:spPr>
          <a:xfrm>
            <a:off x="4517136" y="2029968"/>
            <a:ext cx="3154680" cy="885139"/>
          </a:xfrm>
          <a:prstGeom prst="rect">
            <a:avLst/>
          </a:prstGeom>
          <a:noFill/>
          <a:ln/>
        </p:spPr>
        <p:txBody>
          <a:bodyPr wrap="square" lIns="0" tIns="0" rIns="0" bIns="0" rtlCol="0" anchor="ctr"/>
          <a:lstStyle/>
          <a:p>
            <a:pPr indent="0" marL="0">
              <a:buNone/>
            </a:pPr>
            <a:r>
              <a:rPr lang="en-US" sz="4000" b="1" dirty="0">
                <a:solidFill>
                  <a:srgbClr val="F0A828"/>
                </a:solidFill>
                <a:latin typeface="Bookman Old Style" pitchFamily="34" charset="0"/>
                <a:ea typeface="Bookman Old Style" pitchFamily="34" charset="-122"/>
                <a:cs typeface="Bookman Old Style" pitchFamily="34" charset="-120"/>
              </a:rPr>
              <a:t>0</a:t>
            </a:r>
            <a:endParaRPr lang="en-US" sz="4000" dirty="0"/>
          </a:p>
        </p:txBody>
      </p:sp>
      <p:sp>
        <p:nvSpPr>
          <p:cNvPr id="10" name="Text 8"/>
          <p:cNvSpPr/>
          <p:nvPr/>
        </p:nvSpPr>
        <p:spPr>
          <a:xfrm>
            <a:off x="4517136" y="2874874"/>
            <a:ext cx="3154680" cy="365760"/>
          </a:xfrm>
          <a:prstGeom prst="rect">
            <a:avLst/>
          </a:prstGeom>
          <a:noFill/>
          <a:ln/>
        </p:spPr>
        <p:txBody>
          <a:bodyPr wrap="square" lIns="0" tIns="0" rIns="0" bIns="0" rtlCol="0" anchor="ctr"/>
          <a:lstStyle/>
          <a:p>
            <a:pPr indent="0" marL="0">
              <a:buNone/>
            </a:pPr>
            <a:r>
              <a:rPr lang="en-US" sz="1500" b="1" dirty="0">
                <a:solidFill>
                  <a:srgbClr val="F2ECD9"/>
                </a:solidFill>
                <a:latin typeface="Calibri" pitchFamily="34" charset="0"/>
                <a:ea typeface="Calibri" pitchFamily="34" charset="-122"/>
                <a:cs typeface="Calibri" pitchFamily="34" charset="-120"/>
              </a:rPr>
              <a:t>runtime dependencies</a:t>
            </a:r>
            <a:endParaRPr lang="en-US" sz="1500" dirty="0"/>
          </a:p>
        </p:txBody>
      </p:sp>
      <p:sp>
        <p:nvSpPr>
          <p:cNvPr id="11" name="Text 9"/>
          <p:cNvSpPr/>
          <p:nvPr/>
        </p:nvSpPr>
        <p:spPr>
          <a:xfrm>
            <a:off x="4517136" y="3240634"/>
            <a:ext cx="3154680" cy="462686"/>
          </a:xfrm>
          <a:prstGeom prst="rect">
            <a:avLst/>
          </a:prstGeom>
          <a:noFill/>
          <a:ln/>
        </p:spPr>
        <p:txBody>
          <a:bodyPr wrap="square" lIns="0" tIns="0" rIns="0" bIns="0" rtlCol="0" anchor="ctr"/>
          <a:lstStyle/>
          <a:p>
            <a:pPr indent="0" marL="0">
              <a:buNone/>
            </a:pPr>
            <a:r>
              <a:rPr lang="en-US" sz="1150" dirty="0">
                <a:solidFill>
                  <a:srgbClr val="BDB79F"/>
                </a:solidFill>
                <a:latin typeface="Calibri" pitchFamily="34" charset="0"/>
                <a:ea typeface="Calibri" pitchFamily="34" charset="-122"/>
                <a:cs typeface="Calibri" pitchFamily="34" charset="-120"/>
              </a:rPr>
              <a:t>Pure Node.js built-ins + SQLite. One command to run. Immune to conference wifi.</a:t>
            </a:r>
            <a:endParaRPr lang="en-US" sz="1150" dirty="0"/>
          </a:p>
        </p:txBody>
      </p:sp>
      <p:sp>
        <p:nvSpPr>
          <p:cNvPr id="12" name="Shape 10"/>
          <p:cNvSpPr/>
          <p:nvPr/>
        </p:nvSpPr>
        <p:spPr>
          <a:xfrm>
            <a:off x="8028432" y="1828800"/>
            <a:ext cx="3611880" cy="2011680"/>
          </a:xfrm>
          <a:prstGeom prst="roundRect">
            <a:avLst>
              <a:gd name="adj" fmla="val 4091"/>
            </a:avLst>
          </a:prstGeom>
          <a:solidFill>
            <a:srgbClr val="1C3325"/>
          </a:solidFill>
          <a:ln/>
        </p:spPr>
      </p:sp>
      <p:sp>
        <p:nvSpPr>
          <p:cNvPr id="13" name="Text 11"/>
          <p:cNvSpPr/>
          <p:nvPr/>
        </p:nvSpPr>
        <p:spPr>
          <a:xfrm>
            <a:off x="8257032" y="2029968"/>
            <a:ext cx="3154680" cy="885139"/>
          </a:xfrm>
          <a:prstGeom prst="rect">
            <a:avLst/>
          </a:prstGeom>
          <a:noFill/>
          <a:ln/>
        </p:spPr>
        <p:txBody>
          <a:bodyPr wrap="square" lIns="0" tIns="0" rIns="0" bIns="0" rtlCol="0" anchor="ctr"/>
          <a:lstStyle/>
          <a:p>
            <a:pPr indent="0" marL="0">
              <a:buNone/>
            </a:pPr>
            <a:r>
              <a:rPr lang="en-US" sz="4000" b="1" dirty="0">
                <a:solidFill>
                  <a:srgbClr val="F0A828"/>
                </a:solidFill>
                <a:latin typeface="Bookman Old Style" pitchFamily="34" charset="0"/>
                <a:ea typeface="Bookman Old Style" pitchFamily="34" charset="-122"/>
                <a:cs typeface="Bookman Old Style" pitchFamily="34" charset="-120"/>
              </a:rPr>
              <a:t>4</a:t>
            </a:r>
            <a:endParaRPr lang="en-US" sz="4000" dirty="0"/>
          </a:p>
        </p:txBody>
      </p:sp>
      <p:sp>
        <p:nvSpPr>
          <p:cNvPr id="14" name="Text 12"/>
          <p:cNvSpPr/>
          <p:nvPr/>
        </p:nvSpPr>
        <p:spPr>
          <a:xfrm>
            <a:off x="8257032" y="2874874"/>
            <a:ext cx="3154680" cy="365760"/>
          </a:xfrm>
          <a:prstGeom prst="rect">
            <a:avLst/>
          </a:prstGeom>
          <a:noFill/>
          <a:ln/>
        </p:spPr>
        <p:txBody>
          <a:bodyPr wrap="square" lIns="0" tIns="0" rIns="0" bIns="0" rtlCol="0" anchor="ctr"/>
          <a:lstStyle/>
          <a:p>
            <a:pPr indent="0" marL="0">
              <a:buNone/>
            </a:pPr>
            <a:r>
              <a:rPr lang="en-US" sz="1500" b="1" dirty="0">
                <a:solidFill>
                  <a:srgbClr val="F2ECD9"/>
                </a:solidFill>
                <a:latin typeface="Calibri" pitchFamily="34" charset="0"/>
                <a:ea typeface="Calibri" pitchFamily="34" charset="-122"/>
                <a:cs typeface="Calibri" pitchFamily="34" charset="-120"/>
              </a:rPr>
              <a:t>defects found &amp; fixed by our tests</a:t>
            </a:r>
            <a:endParaRPr lang="en-US" sz="1500" dirty="0"/>
          </a:p>
        </p:txBody>
      </p:sp>
      <p:sp>
        <p:nvSpPr>
          <p:cNvPr id="15" name="Text 13"/>
          <p:cNvSpPr/>
          <p:nvPr/>
        </p:nvSpPr>
        <p:spPr>
          <a:xfrm>
            <a:off x="8257032" y="3240634"/>
            <a:ext cx="3154680" cy="462686"/>
          </a:xfrm>
          <a:prstGeom prst="rect">
            <a:avLst/>
          </a:prstGeom>
          <a:noFill/>
          <a:ln/>
        </p:spPr>
        <p:txBody>
          <a:bodyPr wrap="square" lIns="0" tIns="0" rIns="0" bIns="0" rtlCol="0" anchor="ctr"/>
          <a:lstStyle/>
          <a:p>
            <a:pPr indent="0" marL="0">
              <a:buNone/>
            </a:pPr>
            <a:r>
              <a:rPr lang="en-US" sz="1150" dirty="0">
                <a:solidFill>
                  <a:srgbClr val="BDB79F"/>
                </a:solidFill>
                <a:latin typeface="Calibri" pitchFamily="34" charset="0"/>
                <a:ea typeface="Calibri" pitchFamily="34" charset="-122"/>
                <a:cs typeface="Calibri" pitchFamily="34" charset="-120"/>
              </a:rPr>
              <a:t>Including a scoring-model bias our suite caught before any judge could.</a:t>
            </a:r>
            <a:endParaRPr lang="en-US" sz="1150" dirty="0"/>
          </a:p>
        </p:txBody>
      </p:sp>
      <p:sp>
        <p:nvSpPr>
          <p:cNvPr id="16" name="Shape 14"/>
          <p:cNvSpPr/>
          <p:nvPr/>
        </p:nvSpPr>
        <p:spPr>
          <a:xfrm>
            <a:off x="548640" y="4114800"/>
            <a:ext cx="566928" cy="566928"/>
          </a:xfrm>
          <a:prstGeom prst="ellipse">
            <a:avLst/>
          </a:prstGeom>
          <a:solidFill>
            <a:srgbClr val="F0A828"/>
          </a:solidFill>
          <a:ln/>
        </p:spPr>
      </p:sp>
      <p:sp>
        <p:nvSpPr>
          <p:cNvPr id="17" name="Text 15"/>
          <p:cNvSpPr/>
          <p:nvPr/>
        </p:nvSpPr>
        <p:spPr>
          <a:xfrm>
            <a:off x="493776" y="4087368"/>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1298448" y="4059936"/>
            <a:ext cx="10314432" cy="329184"/>
          </a:xfrm>
          <a:prstGeom prst="rect">
            <a:avLst/>
          </a:prstGeom>
          <a:noFill/>
          <a:ln/>
        </p:spPr>
        <p:txBody>
          <a:bodyPr wrap="square" lIns="0" tIns="0" rIns="0" bIns="0" rtlCol="0" anchor="ctr"/>
          <a:lstStyle/>
          <a:p>
            <a:pPr indent="0" marL="0">
              <a:buNone/>
            </a:pPr>
            <a:r>
              <a:rPr lang="en-US" sz="1600" b="1" dirty="0">
                <a:solidFill>
                  <a:srgbClr val="F2ECD9"/>
                </a:solidFill>
                <a:latin typeface="Calibri" pitchFamily="34" charset="0"/>
                <a:ea typeface="Calibri" pitchFamily="34" charset="-122"/>
                <a:cs typeface="Calibri" pitchFamily="34" charset="-120"/>
              </a:rPr>
              <a:t>Security tested</a:t>
            </a:r>
            <a:endParaRPr lang="en-US" sz="1600" dirty="0"/>
          </a:p>
        </p:txBody>
      </p:sp>
      <p:sp>
        <p:nvSpPr>
          <p:cNvPr id="19" name="Text 17"/>
          <p:cNvSpPr/>
          <p:nvPr/>
        </p:nvSpPr>
        <p:spPr>
          <a:xfrm>
            <a:off x="1298448" y="4389120"/>
            <a:ext cx="10314432" cy="685800"/>
          </a:xfrm>
          <a:prstGeom prst="rect">
            <a:avLst/>
          </a:prstGeom>
          <a:noFill/>
          <a:ln/>
        </p:spPr>
        <p:txBody>
          <a:bodyPr wrap="square" lIns="0" tIns="0" rIns="0" bIns="0" rtlCol="0" anchor="ctr"/>
          <a:lstStyle/>
          <a:p>
            <a:pPr indent="0" marL="0">
              <a:buNone/>
            </a:pPr>
            <a:r>
              <a:rPr lang="en-US" sz="1250" dirty="0">
                <a:solidFill>
                  <a:srgbClr val="BDB79F"/>
                </a:solidFill>
                <a:latin typeface="Calibri" pitchFamily="34" charset="0"/>
                <a:ea typeface="Calibri" pitchFamily="34" charset="-122"/>
                <a:cs typeface="Calibri" pitchFamily="34" charset="-120"/>
              </a:rPr>
              <a:t>Path traversal blocked, input validation on every endpoint, malformed JSON handled safely</a:t>
            </a:r>
            <a:endParaRPr lang="en-US" sz="1250" dirty="0"/>
          </a:p>
        </p:txBody>
      </p:sp>
      <p:sp>
        <p:nvSpPr>
          <p:cNvPr id="20" name="Shape 18"/>
          <p:cNvSpPr/>
          <p:nvPr/>
        </p:nvSpPr>
        <p:spPr>
          <a:xfrm>
            <a:off x="548640" y="5010912"/>
            <a:ext cx="566928" cy="566928"/>
          </a:xfrm>
          <a:prstGeom prst="ellipse">
            <a:avLst/>
          </a:prstGeom>
          <a:solidFill>
            <a:srgbClr val="F0A828"/>
          </a:solidFill>
          <a:ln/>
        </p:spPr>
      </p:sp>
      <p:sp>
        <p:nvSpPr>
          <p:cNvPr id="21" name="Text 19"/>
          <p:cNvSpPr/>
          <p:nvPr/>
        </p:nvSpPr>
        <p:spPr>
          <a:xfrm>
            <a:off x="493776" y="4983480"/>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1298448" y="4956048"/>
            <a:ext cx="10314432" cy="329184"/>
          </a:xfrm>
          <a:prstGeom prst="rect">
            <a:avLst/>
          </a:prstGeom>
          <a:noFill/>
          <a:ln/>
        </p:spPr>
        <p:txBody>
          <a:bodyPr wrap="square" lIns="0" tIns="0" rIns="0" bIns="0" rtlCol="0" anchor="ctr"/>
          <a:lstStyle/>
          <a:p>
            <a:pPr indent="0" marL="0">
              <a:buNone/>
            </a:pPr>
            <a:r>
              <a:rPr lang="en-US" sz="1600" b="1" dirty="0">
                <a:solidFill>
                  <a:srgbClr val="F2ECD9"/>
                </a:solidFill>
                <a:latin typeface="Calibri" pitchFamily="34" charset="0"/>
                <a:ea typeface="Calibri" pitchFamily="34" charset="-122"/>
                <a:cs typeface="Calibri" pitchFamily="34" charset="-120"/>
              </a:rPr>
              <a:t>Performance tested</a:t>
            </a:r>
            <a:endParaRPr lang="en-US" sz="1600" dirty="0"/>
          </a:p>
        </p:txBody>
      </p:sp>
      <p:sp>
        <p:nvSpPr>
          <p:cNvPr id="23" name="Text 21"/>
          <p:cNvSpPr/>
          <p:nvPr/>
        </p:nvSpPr>
        <p:spPr>
          <a:xfrm>
            <a:off x="1298448" y="5285232"/>
            <a:ext cx="10314432" cy="685800"/>
          </a:xfrm>
          <a:prstGeom prst="rect">
            <a:avLst/>
          </a:prstGeom>
          <a:noFill/>
          <a:ln/>
        </p:spPr>
        <p:txBody>
          <a:bodyPr wrap="square" lIns="0" tIns="0" rIns="0" bIns="0" rtlCol="0" anchor="ctr"/>
          <a:lstStyle/>
          <a:p>
            <a:pPr indent="0" marL="0">
              <a:buNone/>
            </a:pPr>
            <a:r>
              <a:rPr lang="en-US" sz="1250" dirty="0">
                <a:solidFill>
                  <a:srgbClr val="BDB79F"/>
                </a:solidFill>
                <a:latin typeface="Calibri" pitchFamily="34" charset="0"/>
                <a:ea typeface="Calibri" pitchFamily="34" charset="-122"/>
                <a:cs typeface="Calibri" pitchFamily="34" charset="-120"/>
              </a:rPr>
              <a:t>50 concurrent requests served in 283 ms</a:t>
            </a:r>
            <a:endParaRPr lang="en-US" sz="1250" dirty="0"/>
          </a:p>
        </p:txBody>
      </p:sp>
      <p:sp>
        <p:nvSpPr>
          <p:cNvPr id="24" name="Shape 22"/>
          <p:cNvSpPr/>
          <p:nvPr/>
        </p:nvSpPr>
        <p:spPr>
          <a:xfrm>
            <a:off x="548640" y="5907024"/>
            <a:ext cx="566928" cy="566928"/>
          </a:xfrm>
          <a:prstGeom prst="ellipse">
            <a:avLst/>
          </a:prstGeom>
          <a:solidFill>
            <a:srgbClr val="F0A828"/>
          </a:solidFill>
          <a:ln/>
        </p:spPr>
      </p:sp>
      <p:sp>
        <p:nvSpPr>
          <p:cNvPr id="25" name="Text 23"/>
          <p:cNvSpPr/>
          <p:nvPr/>
        </p:nvSpPr>
        <p:spPr>
          <a:xfrm>
            <a:off x="493776" y="5879592"/>
            <a:ext cx="685800"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1298448" y="5852160"/>
            <a:ext cx="10314432" cy="329184"/>
          </a:xfrm>
          <a:prstGeom prst="rect">
            <a:avLst/>
          </a:prstGeom>
          <a:noFill/>
          <a:ln/>
        </p:spPr>
        <p:txBody>
          <a:bodyPr wrap="square" lIns="0" tIns="0" rIns="0" bIns="0" rtlCol="0" anchor="ctr"/>
          <a:lstStyle/>
          <a:p>
            <a:pPr indent="0" marL="0">
              <a:buNone/>
            </a:pPr>
            <a:r>
              <a:rPr lang="en-US" sz="1600" b="1" dirty="0">
                <a:solidFill>
                  <a:srgbClr val="F2ECD9"/>
                </a:solidFill>
                <a:latin typeface="Calibri" pitchFamily="34" charset="0"/>
                <a:ea typeface="Calibri" pitchFamily="34" charset="-122"/>
                <a:cs typeface="Calibri" pitchFamily="34" charset="-120"/>
              </a:rPr>
              <a:t>Swap-ready interfaces</a:t>
            </a:r>
            <a:endParaRPr lang="en-US" sz="1600" dirty="0"/>
          </a:p>
        </p:txBody>
      </p:sp>
      <p:sp>
        <p:nvSpPr>
          <p:cNvPr id="27" name="Text 25"/>
          <p:cNvSpPr/>
          <p:nvPr/>
        </p:nvSpPr>
        <p:spPr>
          <a:xfrm>
            <a:off x="1298448" y="6181344"/>
            <a:ext cx="10314432" cy="685800"/>
          </a:xfrm>
          <a:prstGeom prst="rect">
            <a:avLst/>
          </a:prstGeom>
          <a:noFill/>
          <a:ln/>
        </p:spPr>
        <p:txBody>
          <a:bodyPr wrap="square" lIns="0" tIns="0" rIns="0" bIns="0" rtlCol="0" anchor="ctr"/>
          <a:lstStyle/>
          <a:p>
            <a:pPr indent="0" marL="0">
              <a:buNone/>
            </a:pPr>
            <a:r>
              <a:rPr lang="en-US" sz="1250" dirty="0">
                <a:solidFill>
                  <a:srgbClr val="BDB79F"/>
                </a:solidFill>
                <a:latin typeface="Calibri" pitchFamily="34" charset="0"/>
                <a:ea typeface="Calibri" pitchFamily="34" charset="-122"/>
                <a:cs typeface="Calibri" pitchFamily="34" charset="-120"/>
              </a:rPr>
              <a:t>Diagnosis → TensorFlow Lite CNN · prices → live KAMIS feed · loans → M-PESA Daraja, all without architectural change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BUSINESS MODEL</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Aligned with the farmer, paid by the ecosystem</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4</a:t>
            </a:r>
            <a:endParaRPr lang="en-US" sz="1100" dirty="0"/>
          </a:p>
        </p:txBody>
      </p:sp>
      <p:sp>
        <p:nvSpPr>
          <p:cNvPr id="5" name="Shape 3"/>
          <p:cNvSpPr/>
          <p:nvPr/>
        </p:nvSpPr>
        <p:spPr>
          <a:xfrm>
            <a:off x="548640" y="1828800"/>
            <a:ext cx="5532120" cy="1920240"/>
          </a:xfrm>
          <a:prstGeom prst="roundRect">
            <a:avLst>
              <a:gd name="adj" fmla="val 4286"/>
            </a:avLst>
          </a:prstGeom>
          <a:solidFill>
            <a:srgbClr val="F1F4EE"/>
          </a:solidFill>
          <a:ln/>
        </p:spPr>
      </p:sp>
      <p:sp>
        <p:nvSpPr>
          <p:cNvPr id="6" name="Shape 4"/>
          <p:cNvSpPr/>
          <p:nvPr/>
        </p:nvSpPr>
        <p:spPr>
          <a:xfrm>
            <a:off x="777240" y="2057400"/>
            <a:ext cx="548640" cy="548640"/>
          </a:xfrm>
          <a:prstGeom prst="ellipse">
            <a:avLst/>
          </a:prstGeom>
          <a:solidFill>
            <a:srgbClr val="F0A828"/>
          </a:solidFill>
          <a:ln/>
        </p:spPr>
      </p:sp>
      <p:sp>
        <p:nvSpPr>
          <p:cNvPr id="7" name="Text 5"/>
          <p:cNvSpPr/>
          <p:nvPr/>
        </p:nvSpPr>
        <p:spPr>
          <a:xfrm>
            <a:off x="740664" y="2039112"/>
            <a:ext cx="621792" cy="585216"/>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1508760" y="2029968"/>
            <a:ext cx="3566160" cy="365760"/>
          </a:xfrm>
          <a:prstGeom prst="rect">
            <a:avLst/>
          </a:prstGeom>
          <a:noFill/>
          <a:ln/>
        </p:spPr>
        <p:txBody>
          <a:bodyPr wrap="square" lIns="0" tIns="0" rIns="0" bIns="0" rtlCol="0" anchor="ctr"/>
          <a:lstStyle/>
          <a:p>
            <a:pPr indent="0" marL="0">
              <a:buNone/>
            </a:pPr>
            <a:r>
              <a:rPr lang="en-US" sz="1550" b="1" dirty="0">
                <a:solidFill>
                  <a:srgbClr val="1C2B21"/>
                </a:solidFill>
                <a:latin typeface="Calibri" pitchFamily="34" charset="0"/>
                <a:ea typeface="Calibri" pitchFamily="34" charset="-122"/>
                <a:cs typeface="Calibri" pitchFamily="34" charset="-120"/>
              </a:rPr>
              <a:t>Lender API fees</a:t>
            </a:r>
            <a:endParaRPr lang="en-US" sz="1550" dirty="0"/>
          </a:p>
        </p:txBody>
      </p:sp>
      <p:sp>
        <p:nvSpPr>
          <p:cNvPr id="9" name="Text 7"/>
          <p:cNvSpPr/>
          <p:nvPr/>
        </p:nvSpPr>
        <p:spPr>
          <a:xfrm>
            <a:off x="4983480" y="2066544"/>
            <a:ext cx="914400" cy="292608"/>
          </a:xfrm>
          <a:prstGeom prst="rect">
            <a:avLst/>
          </a:prstGeom>
          <a:solidFill>
            <a:srgbClr val="2E7D46"/>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Launch</a:t>
            </a:r>
            <a:endParaRPr lang="en-US" sz="1050" dirty="0"/>
          </a:p>
        </p:txBody>
      </p:sp>
      <p:sp>
        <p:nvSpPr>
          <p:cNvPr id="10" name="Text 8"/>
          <p:cNvSpPr/>
          <p:nvPr/>
        </p:nvSpPr>
        <p:spPr>
          <a:xfrm>
            <a:off x="1508760" y="2450592"/>
            <a:ext cx="4343400" cy="1188720"/>
          </a:xfrm>
          <a:prstGeom prst="rect">
            <a:avLst/>
          </a:prstGeom>
          <a:noFill/>
          <a:ln/>
        </p:spPr>
        <p:txBody>
          <a:bodyPr wrap="square" lIns="0" tIns="0" rIns="0" bIns="0" rtlCol="0" anchor="ctr"/>
          <a:lstStyle/>
          <a:p>
            <a:pPr indent="0" marL="0">
              <a:buNone/>
            </a:pPr>
            <a:r>
              <a:rPr lang="en-US" sz="1150" dirty="0">
                <a:solidFill>
                  <a:srgbClr val="4A584C"/>
                </a:solidFill>
                <a:latin typeface="Calibri" pitchFamily="34" charset="0"/>
                <a:ea typeface="Calibri" pitchFamily="34" charset="-122"/>
                <a:cs typeface="Calibri" pitchFamily="34" charset="-120"/>
              </a:rPr>
              <a:t>SACCOs &amp; MFIs pay per score-backed underwriting decision. We are the credit bureau of the shamba — we never lend off our own balance sheet at first.</a:t>
            </a:r>
            <a:endParaRPr lang="en-US" sz="1150" dirty="0"/>
          </a:p>
        </p:txBody>
      </p:sp>
      <p:sp>
        <p:nvSpPr>
          <p:cNvPr id="11" name="Shape 9"/>
          <p:cNvSpPr/>
          <p:nvPr/>
        </p:nvSpPr>
        <p:spPr>
          <a:xfrm>
            <a:off x="6263640" y="1828800"/>
            <a:ext cx="5532120" cy="1920240"/>
          </a:xfrm>
          <a:prstGeom prst="roundRect">
            <a:avLst>
              <a:gd name="adj" fmla="val 4286"/>
            </a:avLst>
          </a:prstGeom>
          <a:solidFill>
            <a:srgbClr val="F1F4EE"/>
          </a:solidFill>
          <a:ln/>
        </p:spPr>
      </p:sp>
      <p:sp>
        <p:nvSpPr>
          <p:cNvPr id="12" name="Shape 10"/>
          <p:cNvSpPr/>
          <p:nvPr/>
        </p:nvSpPr>
        <p:spPr>
          <a:xfrm>
            <a:off x="6492240" y="2057400"/>
            <a:ext cx="548640" cy="548640"/>
          </a:xfrm>
          <a:prstGeom prst="ellipse">
            <a:avLst/>
          </a:prstGeom>
          <a:solidFill>
            <a:srgbClr val="F0A828"/>
          </a:solidFill>
          <a:ln/>
        </p:spPr>
      </p:sp>
      <p:sp>
        <p:nvSpPr>
          <p:cNvPr id="13" name="Text 11"/>
          <p:cNvSpPr/>
          <p:nvPr/>
        </p:nvSpPr>
        <p:spPr>
          <a:xfrm>
            <a:off x="6455664" y="2039112"/>
            <a:ext cx="621792" cy="585216"/>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7223760" y="2029968"/>
            <a:ext cx="3566160" cy="365760"/>
          </a:xfrm>
          <a:prstGeom prst="rect">
            <a:avLst/>
          </a:prstGeom>
          <a:noFill/>
          <a:ln/>
        </p:spPr>
        <p:txBody>
          <a:bodyPr wrap="square" lIns="0" tIns="0" rIns="0" bIns="0" rtlCol="0" anchor="ctr"/>
          <a:lstStyle/>
          <a:p>
            <a:pPr indent="0" marL="0">
              <a:buNone/>
            </a:pPr>
            <a:r>
              <a:rPr lang="en-US" sz="1550" b="1" dirty="0">
                <a:solidFill>
                  <a:srgbClr val="1C2B21"/>
                </a:solidFill>
                <a:latin typeface="Calibri" pitchFamily="34" charset="0"/>
                <a:ea typeface="Calibri" pitchFamily="34" charset="-122"/>
                <a:cs typeface="Calibri" pitchFamily="34" charset="-120"/>
              </a:rPr>
              <a:t>Input-supplier commission</a:t>
            </a:r>
            <a:endParaRPr lang="en-US" sz="1550" dirty="0"/>
          </a:p>
        </p:txBody>
      </p:sp>
      <p:sp>
        <p:nvSpPr>
          <p:cNvPr id="15" name="Text 13"/>
          <p:cNvSpPr/>
          <p:nvPr/>
        </p:nvSpPr>
        <p:spPr>
          <a:xfrm>
            <a:off x="10698480" y="2066544"/>
            <a:ext cx="914400" cy="292608"/>
          </a:xfrm>
          <a:prstGeom prst="rect">
            <a:avLst/>
          </a:prstGeom>
          <a:solidFill>
            <a:srgbClr val="2E7D46"/>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Launch</a:t>
            </a:r>
            <a:endParaRPr lang="en-US" sz="1050" dirty="0"/>
          </a:p>
        </p:txBody>
      </p:sp>
      <p:sp>
        <p:nvSpPr>
          <p:cNvPr id="16" name="Text 14"/>
          <p:cNvSpPr/>
          <p:nvPr/>
        </p:nvSpPr>
        <p:spPr>
          <a:xfrm>
            <a:off x="7223760" y="2450592"/>
            <a:ext cx="4343400" cy="1188720"/>
          </a:xfrm>
          <a:prstGeom prst="rect">
            <a:avLst/>
          </a:prstGeom>
          <a:noFill/>
          <a:ln/>
        </p:spPr>
        <p:txBody>
          <a:bodyPr wrap="square" lIns="0" tIns="0" rIns="0" bIns="0" rtlCol="0" anchor="ctr"/>
          <a:lstStyle/>
          <a:p>
            <a:pPr indent="0" marL="0">
              <a:buNone/>
            </a:pPr>
            <a:r>
              <a:rPr lang="en-US" sz="1150" dirty="0">
                <a:solidFill>
                  <a:srgbClr val="4A584C"/>
                </a:solidFill>
                <a:latin typeface="Calibri" pitchFamily="34" charset="0"/>
                <a:ea typeface="Calibri" pitchFamily="34" charset="-122"/>
                <a:cs typeface="Calibri" pitchFamily="34" charset="-120"/>
              </a:rPr>
              <a:t>Seed &amp; fertiliser firms pay for qualified demand: loans disbursed as inputs, not cash — which also cuts diversion risk for the lender.</a:t>
            </a:r>
            <a:endParaRPr lang="en-US" sz="1150" dirty="0"/>
          </a:p>
        </p:txBody>
      </p:sp>
      <p:sp>
        <p:nvSpPr>
          <p:cNvPr id="17" name="Shape 15"/>
          <p:cNvSpPr/>
          <p:nvPr/>
        </p:nvSpPr>
        <p:spPr>
          <a:xfrm>
            <a:off x="548640" y="3931920"/>
            <a:ext cx="5532120" cy="1920240"/>
          </a:xfrm>
          <a:prstGeom prst="roundRect">
            <a:avLst>
              <a:gd name="adj" fmla="val 4286"/>
            </a:avLst>
          </a:prstGeom>
          <a:solidFill>
            <a:srgbClr val="F1F4EE"/>
          </a:solidFill>
          <a:ln/>
        </p:spPr>
      </p:sp>
      <p:sp>
        <p:nvSpPr>
          <p:cNvPr id="18" name="Shape 16"/>
          <p:cNvSpPr/>
          <p:nvPr/>
        </p:nvSpPr>
        <p:spPr>
          <a:xfrm>
            <a:off x="777240" y="4160520"/>
            <a:ext cx="548640" cy="548640"/>
          </a:xfrm>
          <a:prstGeom prst="ellipse">
            <a:avLst/>
          </a:prstGeom>
          <a:solidFill>
            <a:srgbClr val="F0A828"/>
          </a:solidFill>
          <a:ln/>
        </p:spPr>
      </p:sp>
      <p:sp>
        <p:nvSpPr>
          <p:cNvPr id="19" name="Text 17"/>
          <p:cNvSpPr/>
          <p:nvPr/>
        </p:nvSpPr>
        <p:spPr>
          <a:xfrm>
            <a:off x="740664" y="4142232"/>
            <a:ext cx="621792" cy="585216"/>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1508760" y="4133088"/>
            <a:ext cx="3566160" cy="365760"/>
          </a:xfrm>
          <a:prstGeom prst="rect">
            <a:avLst/>
          </a:prstGeom>
          <a:noFill/>
          <a:ln/>
        </p:spPr>
        <p:txBody>
          <a:bodyPr wrap="square" lIns="0" tIns="0" rIns="0" bIns="0" rtlCol="0" anchor="ctr"/>
          <a:lstStyle/>
          <a:p>
            <a:pPr indent="0" marL="0">
              <a:buNone/>
            </a:pPr>
            <a:r>
              <a:rPr lang="en-US" sz="1550" b="1" dirty="0">
                <a:solidFill>
                  <a:srgbClr val="1C2B21"/>
                </a:solidFill>
                <a:latin typeface="Calibri" pitchFamily="34" charset="0"/>
                <a:ea typeface="Calibri" pitchFamily="34" charset="-122"/>
                <a:cs typeface="Calibri" pitchFamily="34" charset="-120"/>
              </a:rPr>
              <a:t>Micro-insurance</a:t>
            </a:r>
            <a:endParaRPr lang="en-US" sz="1550" dirty="0"/>
          </a:p>
        </p:txBody>
      </p:sp>
      <p:sp>
        <p:nvSpPr>
          <p:cNvPr id="21" name="Text 19"/>
          <p:cNvSpPr/>
          <p:nvPr/>
        </p:nvSpPr>
        <p:spPr>
          <a:xfrm>
            <a:off x="4983480" y="4169664"/>
            <a:ext cx="914400" cy="292608"/>
          </a:xfrm>
          <a:prstGeom prst="rect">
            <a:avLst/>
          </a:prstGeom>
          <a:solidFill>
            <a:srgbClr val="8A9A8D"/>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Phase 2</a:t>
            </a:r>
            <a:endParaRPr lang="en-US" sz="1050" dirty="0"/>
          </a:p>
        </p:txBody>
      </p:sp>
      <p:sp>
        <p:nvSpPr>
          <p:cNvPr id="22" name="Text 20"/>
          <p:cNvSpPr/>
          <p:nvPr/>
        </p:nvSpPr>
        <p:spPr>
          <a:xfrm>
            <a:off x="1508760" y="4553712"/>
            <a:ext cx="4343400" cy="1188720"/>
          </a:xfrm>
          <a:prstGeom prst="rect">
            <a:avLst/>
          </a:prstGeom>
          <a:noFill/>
          <a:ln/>
        </p:spPr>
        <p:txBody>
          <a:bodyPr wrap="square" lIns="0" tIns="0" rIns="0" bIns="0" rtlCol="0" anchor="ctr"/>
          <a:lstStyle/>
          <a:p>
            <a:pPr indent="0" marL="0">
              <a:buNone/>
            </a:pPr>
            <a:r>
              <a:rPr lang="en-US" sz="1150" dirty="0">
                <a:solidFill>
                  <a:srgbClr val="4A584C"/>
                </a:solidFill>
                <a:latin typeface="Calibri" pitchFamily="34" charset="0"/>
                <a:ea typeface="Calibri" pitchFamily="34" charset="-122"/>
                <a:cs typeface="Calibri" pitchFamily="34" charset="-120"/>
              </a:rPr>
              <a:t>Crop cover priced by the same score and weather data, sold at the moment of loan acceptance.</a:t>
            </a:r>
            <a:endParaRPr lang="en-US" sz="1150" dirty="0"/>
          </a:p>
        </p:txBody>
      </p:sp>
      <p:sp>
        <p:nvSpPr>
          <p:cNvPr id="23" name="Shape 21"/>
          <p:cNvSpPr/>
          <p:nvPr/>
        </p:nvSpPr>
        <p:spPr>
          <a:xfrm>
            <a:off x="6263640" y="3931920"/>
            <a:ext cx="5532120" cy="1920240"/>
          </a:xfrm>
          <a:prstGeom prst="roundRect">
            <a:avLst>
              <a:gd name="adj" fmla="val 4286"/>
            </a:avLst>
          </a:prstGeom>
          <a:solidFill>
            <a:srgbClr val="F1F4EE"/>
          </a:solidFill>
          <a:ln/>
        </p:spPr>
      </p:sp>
      <p:sp>
        <p:nvSpPr>
          <p:cNvPr id="24" name="Shape 22"/>
          <p:cNvSpPr/>
          <p:nvPr/>
        </p:nvSpPr>
        <p:spPr>
          <a:xfrm>
            <a:off x="6492240" y="4160520"/>
            <a:ext cx="548640" cy="548640"/>
          </a:xfrm>
          <a:prstGeom prst="ellipse">
            <a:avLst/>
          </a:prstGeom>
          <a:solidFill>
            <a:srgbClr val="F0A828"/>
          </a:solidFill>
          <a:ln/>
        </p:spPr>
      </p:sp>
      <p:sp>
        <p:nvSpPr>
          <p:cNvPr id="25" name="Text 23"/>
          <p:cNvSpPr/>
          <p:nvPr/>
        </p:nvSpPr>
        <p:spPr>
          <a:xfrm>
            <a:off x="6455664" y="4142232"/>
            <a:ext cx="621792" cy="585216"/>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7223760" y="4133088"/>
            <a:ext cx="3566160" cy="365760"/>
          </a:xfrm>
          <a:prstGeom prst="rect">
            <a:avLst/>
          </a:prstGeom>
          <a:noFill/>
          <a:ln/>
        </p:spPr>
        <p:txBody>
          <a:bodyPr wrap="square" lIns="0" tIns="0" rIns="0" bIns="0" rtlCol="0" anchor="ctr"/>
          <a:lstStyle/>
          <a:p>
            <a:pPr indent="0" marL="0">
              <a:buNone/>
            </a:pPr>
            <a:r>
              <a:rPr lang="en-US" sz="1550" b="1" dirty="0">
                <a:solidFill>
                  <a:srgbClr val="1C2B21"/>
                </a:solidFill>
                <a:latin typeface="Calibri" pitchFamily="34" charset="0"/>
                <a:ea typeface="Calibri" pitchFamily="34" charset="-122"/>
                <a:cs typeface="Calibri" pitchFamily="34" charset="-120"/>
              </a:rPr>
              <a:t>Anonymised market analytics</a:t>
            </a:r>
            <a:endParaRPr lang="en-US" sz="1550" dirty="0"/>
          </a:p>
        </p:txBody>
      </p:sp>
      <p:sp>
        <p:nvSpPr>
          <p:cNvPr id="27" name="Text 25"/>
          <p:cNvSpPr/>
          <p:nvPr/>
        </p:nvSpPr>
        <p:spPr>
          <a:xfrm>
            <a:off x="10698480" y="4169664"/>
            <a:ext cx="914400" cy="292608"/>
          </a:xfrm>
          <a:prstGeom prst="rect">
            <a:avLst/>
          </a:prstGeom>
          <a:solidFill>
            <a:srgbClr val="8A9A8D"/>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Phase 2</a:t>
            </a:r>
            <a:endParaRPr lang="en-US" sz="1050" dirty="0"/>
          </a:p>
        </p:txBody>
      </p:sp>
      <p:sp>
        <p:nvSpPr>
          <p:cNvPr id="28" name="Text 26"/>
          <p:cNvSpPr/>
          <p:nvPr/>
        </p:nvSpPr>
        <p:spPr>
          <a:xfrm>
            <a:off x="7223760" y="4553712"/>
            <a:ext cx="4343400" cy="1188720"/>
          </a:xfrm>
          <a:prstGeom prst="rect">
            <a:avLst/>
          </a:prstGeom>
          <a:noFill/>
          <a:ln/>
        </p:spPr>
        <p:txBody>
          <a:bodyPr wrap="square" lIns="0" tIns="0" rIns="0" bIns="0" rtlCol="0" anchor="ctr"/>
          <a:lstStyle/>
          <a:p>
            <a:pPr indent="0" marL="0">
              <a:buNone/>
            </a:pPr>
            <a:r>
              <a:rPr lang="en-US" sz="1150" dirty="0">
                <a:solidFill>
                  <a:srgbClr val="4A584C"/>
                </a:solidFill>
                <a:latin typeface="Calibri" pitchFamily="34" charset="0"/>
                <a:ea typeface="Calibri" pitchFamily="34" charset="-122"/>
                <a:cs typeface="Calibri" pitchFamily="34" charset="-120"/>
              </a:rPr>
              <a:t>Aggregated yield &amp; price intelligence for county governments, processors and NGOs.</a:t>
            </a:r>
            <a:endParaRPr lang="en-US" sz="1150" dirty="0"/>
          </a:p>
        </p:txBody>
      </p:sp>
      <p:sp>
        <p:nvSpPr>
          <p:cNvPr id="29" name="Text 27"/>
          <p:cNvSpPr/>
          <p:nvPr/>
        </p:nvSpPr>
        <p:spPr>
          <a:xfrm>
            <a:off x="548640" y="6080760"/>
            <a:ext cx="11064240" cy="411480"/>
          </a:xfrm>
          <a:prstGeom prst="rect">
            <a:avLst/>
          </a:prstGeom>
          <a:noFill/>
          <a:ln/>
        </p:spPr>
        <p:txBody>
          <a:bodyPr wrap="square" lIns="0" tIns="0" rIns="0" bIns="0" rtlCol="0" anchor="ctr"/>
          <a:lstStyle/>
          <a:p>
            <a:pPr indent="0" marL="0">
              <a:buNone/>
            </a:pPr>
            <a:r>
              <a:rPr lang="en-US" sz="1400" i="1" dirty="0">
                <a:solidFill>
                  <a:srgbClr val="2E7D46"/>
                </a:solidFill>
                <a:latin typeface="Calibri" pitchFamily="34" charset="0"/>
                <a:ea typeface="Calibri" pitchFamily="34" charset="-122"/>
                <a:cs typeface="Calibri" pitchFamily="34" charset="-120"/>
              </a:rPr>
              <a:t>The farmer pays nothing. The score is hers. Our incentive is her success — a defaulting farmer earns us zero.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300" kern="0" dirty="0">
                <a:solidFill>
                  <a:srgbClr val="2E7D46"/>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indent="0" marL="0">
              <a:buNone/>
            </a:pPr>
            <a:r>
              <a:rPr lang="en-US" sz="3400" b="1" dirty="0">
                <a:solidFill>
                  <a:srgbClr val="1C2B21"/>
                </a:solidFill>
                <a:latin typeface="Bookman Old Style" pitchFamily="34" charset="0"/>
                <a:ea typeface="Bookman Old Style" pitchFamily="34" charset="-122"/>
                <a:cs typeface="Bookman Old Style" pitchFamily="34" charset="-120"/>
              </a:rPr>
              <a:t>From prototype to pilot in two seasons</a:t>
            </a:r>
            <a:endParaRPr lang="en-US" sz="3400" dirty="0"/>
          </a:p>
        </p:txBody>
      </p:sp>
      <p:sp>
        <p:nvSpPr>
          <p:cNvPr id="4" name="Text 2"/>
          <p:cNvSpPr/>
          <p:nvPr/>
        </p:nvSpPr>
        <p:spPr>
          <a:xfrm>
            <a:off x="9692640" y="384048"/>
            <a:ext cx="1965960" cy="320040"/>
          </a:xfrm>
          <a:prstGeom prst="rect">
            <a:avLst/>
          </a:prstGeom>
          <a:noFill/>
          <a:ln/>
        </p:spPr>
        <p:txBody>
          <a:bodyPr wrap="square" lIns="0" tIns="0" rIns="0" bIns="0" rtlCol="0" anchor="ctr"/>
          <a:lstStyle/>
          <a:p>
            <a:pPr algn="r" indent="0" marL="0">
              <a:buNone/>
            </a:pPr>
            <a:r>
              <a:rPr lang="en-US" sz="1100" i="1" dirty="0">
                <a:solidFill>
                  <a:srgbClr val="BDB79F"/>
                </a:solidFill>
                <a:latin typeface="Calibri" pitchFamily="34" charset="0"/>
                <a:ea typeface="Calibri" pitchFamily="34" charset="-122"/>
                <a:cs typeface="Calibri" pitchFamily="34" charset="-120"/>
              </a:rPr>
              <a:t>Presenter 2</a:t>
            </a:r>
            <a:endParaRPr lang="en-US" sz="1100" dirty="0"/>
          </a:p>
        </p:txBody>
      </p:sp>
      <p:sp>
        <p:nvSpPr>
          <p:cNvPr id="5" name="Shape 3"/>
          <p:cNvSpPr/>
          <p:nvPr/>
        </p:nvSpPr>
        <p:spPr>
          <a:xfrm>
            <a:off x="1655064" y="2057400"/>
            <a:ext cx="457200" cy="457200"/>
          </a:xfrm>
          <a:prstGeom prst="ellipse">
            <a:avLst/>
          </a:prstGeom>
          <a:solidFill>
            <a:srgbClr val="2E7D46"/>
          </a:solidFill>
          <a:ln/>
        </p:spPr>
      </p:sp>
      <p:sp>
        <p:nvSpPr>
          <p:cNvPr id="6" name="Shape 4"/>
          <p:cNvSpPr/>
          <p:nvPr/>
        </p:nvSpPr>
        <p:spPr>
          <a:xfrm>
            <a:off x="2286000" y="2286000"/>
            <a:ext cx="2286000" cy="0"/>
          </a:xfrm>
          <a:prstGeom prst="line">
            <a:avLst/>
          </a:prstGeom>
          <a:noFill/>
          <a:ln w="25400">
            <a:solidFill>
              <a:srgbClr val="C9D2C6"/>
            </a:solidFill>
            <a:prstDash val="dash"/>
          </a:ln>
        </p:spPr>
      </p:sp>
      <p:sp>
        <p:nvSpPr>
          <p:cNvPr id="7" name="Text 5"/>
          <p:cNvSpPr/>
          <p:nvPr/>
        </p:nvSpPr>
        <p:spPr>
          <a:xfrm>
            <a:off x="548640" y="2697480"/>
            <a:ext cx="2670048" cy="320040"/>
          </a:xfrm>
          <a:prstGeom prst="rect">
            <a:avLst/>
          </a:prstGeom>
          <a:noFill/>
          <a:ln/>
        </p:spPr>
        <p:txBody>
          <a:bodyPr wrap="square" lIns="0" tIns="0" rIns="0" bIns="0" rtlCol="0" anchor="ctr"/>
          <a:lstStyle/>
          <a:p>
            <a:pPr algn="ctr" indent="0" marL="0">
              <a:buNone/>
            </a:pPr>
            <a:r>
              <a:rPr lang="en-US" sz="1200" b="1" spc="200" kern="0" dirty="0">
                <a:solidFill>
                  <a:srgbClr val="2E7D46"/>
                </a:solidFill>
                <a:latin typeface="Calibri" pitchFamily="34" charset="0"/>
                <a:ea typeface="Calibri" pitchFamily="34" charset="-122"/>
                <a:cs typeface="Calibri" pitchFamily="34" charset="-120"/>
              </a:rPr>
              <a:t>NOW</a:t>
            </a:r>
            <a:endParaRPr lang="en-US" sz="1200" dirty="0"/>
          </a:p>
        </p:txBody>
      </p:sp>
      <p:sp>
        <p:nvSpPr>
          <p:cNvPr id="8" name="Text 6"/>
          <p:cNvSpPr/>
          <p:nvPr/>
        </p:nvSpPr>
        <p:spPr>
          <a:xfrm>
            <a:off x="548640" y="3035808"/>
            <a:ext cx="2670048" cy="594360"/>
          </a:xfrm>
          <a:prstGeom prst="rect">
            <a:avLst/>
          </a:prstGeom>
          <a:noFill/>
          <a:ln/>
        </p:spPr>
        <p:txBody>
          <a:bodyPr wrap="square" lIns="0" tIns="0" rIns="0" bIns="0" rtlCol="0" anchor="ctr"/>
          <a:lstStyle/>
          <a:p>
            <a:pPr algn="ctr" indent="0" marL="0">
              <a:buNone/>
            </a:pPr>
            <a:r>
              <a:rPr lang="en-US" sz="1550" b="1" dirty="0">
                <a:solidFill>
                  <a:srgbClr val="1C2B21"/>
                </a:solidFill>
                <a:latin typeface="Calibri" pitchFamily="34" charset="0"/>
                <a:ea typeface="Calibri" pitchFamily="34" charset="-122"/>
                <a:cs typeface="Calibri" pitchFamily="34" charset="-120"/>
              </a:rPr>
              <a:t>Working prototype</a:t>
            </a:r>
            <a:endParaRPr lang="en-US" sz="1550" dirty="0"/>
          </a:p>
        </p:txBody>
      </p:sp>
      <p:sp>
        <p:nvSpPr>
          <p:cNvPr id="9" name="Text 7"/>
          <p:cNvSpPr/>
          <p:nvPr/>
        </p:nvSpPr>
        <p:spPr>
          <a:xfrm>
            <a:off x="640080" y="3611880"/>
            <a:ext cx="2487168" cy="2011680"/>
          </a:xfrm>
          <a:prstGeom prst="rect">
            <a:avLst/>
          </a:prstGeom>
          <a:noFill/>
          <a:ln/>
        </p:spPr>
        <p:txBody>
          <a:bodyPr wrap="square" lIns="0" tIns="0" rIns="0" bIns="0" rtlCol="0" anchor="ctr"/>
          <a:lstStyle/>
          <a:p>
            <a:pPr algn="ctr" indent="0" marL="0">
              <a:buNone/>
            </a:pPr>
            <a:r>
              <a:rPr lang="en-US" sz="1150" dirty="0">
                <a:solidFill>
                  <a:srgbClr val="4A584C"/>
                </a:solidFill>
                <a:latin typeface="Calibri" pitchFamily="34" charset="0"/>
                <a:ea typeface="Calibri" pitchFamily="34" charset="-122"/>
                <a:cs typeface="Calibri" pitchFamily="34" charset="-120"/>
              </a:rPr>
              <a:t>Everything you saw today: diagnosis, markets, ledger, score, loans, USSD — 29/29 tests passing</a:t>
            </a:r>
            <a:endParaRPr lang="en-US" sz="1150" dirty="0"/>
          </a:p>
        </p:txBody>
      </p:sp>
      <p:sp>
        <p:nvSpPr>
          <p:cNvPr id="10" name="Shape 8"/>
          <p:cNvSpPr/>
          <p:nvPr/>
        </p:nvSpPr>
        <p:spPr>
          <a:xfrm>
            <a:off x="4507992" y="2057400"/>
            <a:ext cx="457200" cy="457200"/>
          </a:xfrm>
          <a:prstGeom prst="ellipse">
            <a:avLst/>
          </a:prstGeom>
          <a:solidFill>
            <a:srgbClr val="F0A828"/>
          </a:solidFill>
          <a:ln/>
        </p:spPr>
      </p:sp>
      <p:sp>
        <p:nvSpPr>
          <p:cNvPr id="11" name="Shape 9"/>
          <p:cNvSpPr/>
          <p:nvPr/>
        </p:nvSpPr>
        <p:spPr>
          <a:xfrm>
            <a:off x="5138928" y="2286000"/>
            <a:ext cx="2286000" cy="0"/>
          </a:xfrm>
          <a:prstGeom prst="line">
            <a:avLst/>
          </a:prstGeom>
          <a:noFill/>
          <a:ln w="25400">
            <a:solidFill>
              <a:srgbClr val="C9D2C6"/>
            </a:solidFill>
            <a:prstDash val="dash"/>
          </a:ln>
        </p:spPr>
      </p:sp>
      <p:sp>
        <p:nvSpPr>
          <p:cNvPr id="12" name="Text 10"/>
          <p:cNvSpPr/>
          <p:nvPr/>
        </p:nvSpPr>
        <p:spPr>
          <a:xfrm>
            <a:off x="3401568" y="2697480"/>
            <a:ext cx="2670048" cy="320040"/>
          </a:xfrm>
          <a:prstGeom prst="rect">
            <a:avLst/>
          </a:prstGeom>
          <a:noFill/>
          <a:ln/>
        </p:spPr>
        <p:txBody>
          <a:bodyPr wrap="square" lIns="0" tIns="0" rIns="0" bIns="0" rtlCol="0" anchor="ctr"/>
          <a:lstStyle/>
          <a:p>
            <a:pPr algn="ctr" indent="0" marL="0">
              <a:buNone/>
            </a:pPr>
            <a:r>
              <a:rPr lang="en-US" sz="1200" b="1" spc="200" kern="0" dirty="0">
                <a:solidFill>
                  <a:srgbClr val="F0A828"/>
                </a:solidFill>
                <a:latin typeface="Calibri" pitchFamily="34" charset="0"/>
                <a:ea typeface="Calibri" pitchFamily="34" charset="-122"/>
                <a:cs typeface="Calibri" pitchFamily="34" charset="-120"/>
              </a:rPr>
              <a:t>3 MONTHS</a:t>
            </a:r>
            <a:endParaRPr lang="en-US" sz="1200" dirty="0"/>
          </a:p>
        </p:txBody>
      </p:sp>
      <p:sp>
        <p:nvSpPr>
          <p:cNvPr id="13" name="Text 11"/>
          <p:cNvSpPr/>
          <p:nvPr/>
        </p:nvSpPr>
        <p:spPr>
          <a:xfrm>
            <a:off x="3401568" y="3035808"/>
            <a:ext cx="2670048" cy="594360"/>
          </a:xfrm>
          <a:prstGeom prst="rect">
            <a:avLst/>
          </a:prstGeom>
          <a:noFill/>
          <a:ln/>
        </p:spPr>
        <p:txBody>
          <a:bodyPr wrap="square" lIns="0" tIns="0" rIns="0" bIns="0" rtlCol="0" anchor="ctr"/>
          <a:lstStyle/>
          <a:p>
            <a:pPr algn="ctr" indent="0" marL="0">
              <a:buNone/>
            </a:pPr>
            <a:r>
              <a:rPr lang="en-US" sz="1550" b="1" dirty="0">
                <a:solidFill>
                  <a:srgbClr val="1C2B21"/>
                </a:solidFill>
                <a:latin typeface="Calibri" pitchFamily="34" charset="0"/>
                <a:ea typeface="Calibri" pitchFamily="34" charset="-122"/>
                <a:cs typeface="Calibri" pitchFamily="34" charset="-120"/>
              </a:rPr>
              <a:t>Data partnerships</a:t>
            </a:r>
            <a:endParaRPr lang="en-US" sz="1550" dirty="0"/>
          </a:p>
        </p:txBody>
      </p:sp>
      <p:sp>
        <p:nvSpPr>
          <p:cNvPr id="14" name="Text 12"/>
          <p:cNvSpPr/>
          <p:nvPr/>
        </p:nvSpPr>
        <p:spPr>
          <a:xfrm>
            <a:off x="3493008" y="3611880"/>
            <a:ext cx="2487168" cy="2011680"/>
          </a:xfrm>
          <a:prstGeom prst="rect">
            <a:avLst/>
          </a:prstGeom>
          <a:noFill/>
          <a:ln/>
        </p:spPr>
        <p:txBody>
          <a:bodyPr wrap="square" lIns="0" tIns="0" rIns="0" bIns="0" rtlCol="0" anchor="ctr"/>
          <a:lstStyle/>
          <a:p>
            <a:pPr algn="ctr" indent="0" marL="0">
              <a:buNone/>
            </a:pPr>
            <a:r>
              <a:rPr lang="en-US" sz="1150" dirty="0">
                <a:solidFill>
                  <a:srgbClr val="4A584C"/>
                </a:solidFill>
                <a:latin typeface="Calibri" pitchFamily="34" charset="0"/>
                <a:ea typeface="Calibri" pitchFamily="34" charset="-122"/>
                <a:cs typeface="Calibri" pitchFamily="34" charset="-120"/>
              </a:rPr>
              <a:t>Live KAMIS price feed · OpenWeather · PlantVillage-trained TFLite CNN on-device</a:t>
            </a:r>
            <a:endParaRPr lang="en-US" sz="1150" dirty="0"/>
          </a:p>
        </p:txBody>
      </p:sp>
      <p:sp>
        <p:nvSpPr>
          <p:cNvPr id="15" name="Shape 13"/>
          <p:cNvSpPr/>
          <p:nvPr/>
        </p:nvSpPr>
        <p:spPr>
          <a:xfrm>
            <a:off x="7360920" y="2057400"/>
            <a:ext cx="457200" cy="457200"/>
          </a:xfrm>
          <a:prstGeom prst="ellipse">
            <a:avLst/>
          </a:prstGeom>
          <a:solidFill>
            <a:srgbClr val="F0A828"/>
          </a:solidFill>
          <a:ln/>
        </p:spPr>
      </p:sp>
      <p:sp>
        <p:nvSpPr>
          <p:cNvPr id="16" name="Shape 14"/>
          <p:cNvSpPr/>
          <p:nvPr/>
        </p:nvSpPr>
        <p:spPr>
          <a:xfrm>
            <a:off x="7991856" y="2286000"/>
            <a:ext cx="2286000" cy="0"/>
          </a:xfrm>
          <a:prstGeom prst="line">
            <a:avLst/>
          </a:prstGeom>
          <a:noFill/>
          <a:ln w="25400">
            <a:solidFill>
              <a:srgbClr val="C9D2C6"/>
            </a:solidFill>
            <a:prstDash val="dash"/>
          </a:ln>
        </p:spPr>
      </p:sp>
      <p:sp>
        <p:nvSpPr>
          <p:cNvPr id="17" name="Text 15"/>
          <p:cNvSpPr/>
          <p:nvPr/>
        </p:nvSpPr>
        <p:spPr>
          <a:xfrm>
            <a:off x="6254496" y="2697480"/>
            <a:ext cx="2670048" cy="320040"/>
          </a:xfrm>
          <a:prstGeom prst="rect">
            <a:avLst/>
          </a:prstGeom>
          <a:noFill/>
          <a:ln/>
        </p:spPr>
        <p:txBody>
          <a:bodyPr wrap="square" lIns="0" tIns="0" rIns="0" bIns="0" rtlCol="0" anchor="ctr"/>
          <a:lstStyle/>
          <a:p>
            <a:pPr algn="ctr" indent="0" marL="0">
              <a:buNone/>
            </a:pPr>
            <a:r>
              <a:rPr lang="en-US" sz="1200" b="1" spc="200" kern="0" dirty="0">
                <a:solidFill>
                  <a:srgbClr val="F0A828"/>
                </a:solidFill>
                <a:latin typeface="Calibri" pitchFamily="34" charset="0"/>
                <a:ea typeface="Calibri" pitchFamily="34" charset="-122"/>
                <a:cs typeface="Calibri" pitchFamily="34" charset="-120"/>
              </a:rPr>
              <a:t>6 MONTHS</a:t>
            </a:r>
            <a:endParaRPr lang="en-US" sz="1200" dirty="0"/>
          </a:p>
        </p:txBody>
      </p:sp>
      <p:sp>
        <p:nvSpPr>
          <p:cNvPr id="18" name="Text 16"/>
          <p:cNvSpPr/>
          <p:nvPr/>
        </p:nvSpPr>
        <p:spPr>
          <a:xfrm>
            <a:off x="6254496" y="3035808"/>
            <a:ext cx="2670048" cy="594360"/>
          </a:xfrm>
          <a:prstGeom prst="rect">
            <a:avLst/>
          </a:prstGeom>
          <a:noFill/>
          <a:ln/>
        </p:spPr>
        <p:txBody>
          <a:bodyPr wrap="square" lIns="0" tIns="0" rIns="0" bIns="0" rtlCol="0" anchor="ctr"/>
          <a:lstStyle/>
          <a:p>
            <a:pPr algn="ctr" indent="0" marL="0">
              <a:buNone/>
            </a:pPr>
            <a:r>
              <a:rPr lang="en-US" sz="1550" b="1" dirty="0">
                <a:solidFill>
                  <a:srgbClr val="1C2B21"/>
                </a:solidFill>
                <a:latin typeface="Calibri" pitchFamily="34" charset="0"/>
                <a:ea typeface="Calibri" pitchFamily="34" charset="-122"/>
                <a:cs typeface="Calibri" pitchFamily="34" charset="-120"/>
              </a:rPr>
              <a:t>Cooperative pilot</a:t>
            </a:r>
            <a:endParaRPr lang="en-US" sz="1550" dirty="0"/>
          </a:p>
        </p:txBody>
      </p:sp>
      <p:sp>
        <p:nvSpPr>
          <p:cNvPr id="19" name="Text 17"/>
          <p:cNvSpPr/>
          <p:nvPr/>
        </p:nvSpPr>
        <p:spPr>
          <a:xfrm>
            <a:off x="6345936" y="3611880"/>
            <a:ext cx="2487168" cy="2011680"/>
          </a:xfrm>
          <a:prstGeom prst="rect">
            <a:avLst/>
          </a:prstGeom>
          <a:noFill/>
          <a:ln/>
        </p:spPr>
        <p:txBody>
          <a:bodyPr wrap="square" lIns="0" tIns="0" rIns="0" bIns="0" rtlCol="0" anchor="ctr"/>
          <a:lstStyle/>
          <a:p>
            <a:pPr algn="ctr" indent="0" marL="0">
              <a:buNone/>
            </a:pPr>
            <a:r>
              <a:rPr lang="en-US" sz="1150" dirty="0">
                <a:solidFill>
                  <a:srgbClr val="4A584C"/>
                </a:solidFill>
                <a:latin typeface="Calibri" pitchFamily="34" charset="0"/>
                <a:ea typeface="Calibri" pitchFamily="34" charset="-122"/>
                <a:cs typeface="Calibri" pitchFamily="34" charset="-120"/>
              </a:rPr>
              <a:t>500 farmers in one maize county · co-op records counter-verify harvests · first SACCO underwriting partner</a:t>
            </a:r>
            <a:endParaRPr lang="en-US" sz="1150" dirty="0"/>
          </a:p>
        </p:txBody>
      </p:sp>
      <p:sp>
        <p:nvSpPr>
          <p:cNvPr id="20" name="Shape 18"/>
          <p:cNvSpPr/>
          <p:nvPr/>
        </p:nvSpPr>
        <p:spPr>
          <a:xfrm>
            <a:off x="10213848" y="2057400"/>
            <a:ext cx="457200" cy="457200"/>
          </a:xfrm>
          <a:prstGeom prst="ellipse">
            <a:avLst/>
          </a:prstGeom>
          <a:solidFill>
            <a:srgbClr val="8A9A8D"/>
          </a:solidFill>
          <a:ln/>
        </p:spPr>
      </p:sp>
      <p:sp>
        <p:nvSpPr>
          <p:cNvPr id="21" name="Text 19"/>
          <p:cNvSpPr/>
          <p:nvPr/>
        </p:nvSpPr>
        <p:spPr>
          <a:xfrm>
            <a:off x="9107424" y="2697480"/>
            <a:ext cx="2670048" cy="320040"/>
          </a:xfrm>
          <a:prstGeom prst="rect">
            <a:avLst/>
          </a:prstGeom>
          <a:noFill/>
          <a:ln/>
        </p:spPr>
        <p:txBody>
          <a:bodyPr wrap="square" lIns="0" tIns="0" rIns="0" bIns="0" rtlCol="0" anchor="ctr"/>
          <a:lstStyle/>
          <a:p>
            <a:pPr algn="ctr" indent="0" marL="0">
              <a:buNone/>
            </a:pPr>
            <a:r>
              <a:rPr lang="en-US" sz="1200" b="1" spc="200" kern="0" dirty="0">
                <a:solidFill>
                  <a:srgbClr val="6A7A6D"/>
                </a:solidFill>
                <a:latin typeface="Calibri" pitchFamily="34" charset="0"/>
                <a:ea typeface="Calibri" pitchFamily="34" charset="-122"/>
                <a:cs typeface="Calibri" pitchFamily="34" charset="-120"/>
              </a:rPr>
              <a:t>12 MONTHS</a:t>
            </a:r>
            <a:endParaRPr lang="en-US" sz="1200" dirty="0"/>
          </a:p>
        </p:txBody>
      </p:sp>
      <p:sp>
        <p:nvSpPr>
          <p:cNvPr id="22" name="Text 20"/>
          <p:cNvSpPr/>
          <p:nvPr/>
        </p:nvSpPr>
        <p:spPr>
          <a:xfrm>
            <a:off x="9107424" y="3035808"/>
            <a:ext cx="2670048" cy="594360"/>
          </a:xfrm>
          <a:prstGeom prst="rect">
            <a:avLst/>
          </a:prstGeom>
          <a:noFill/>
          <a:ln/>
        </p:spPr>
        <p:txBody>
          <a:bodyPr wrap="square" lIns="0" tIns="0" rIns="0" bIns="0" rtlCol="0" anchor="ctr"/>
          <a:lstStyle/>
          <a:p>
            <a:pPr algn="ctr" indent="0" marL="0">
              <a:buNone/>
            </a:pPr>
            <a:r>
              <a:rPr lang="en-US" sz="1550" b="1" dirty="0">
                <a:solidFill>
                  <a:srgbClr val="1C2B21"/>
                </a:solidFill>
                <a:latin typeface="Calibri" pitchFamily="34" charset="0"/>
                <a:ea typeface="Calibri" pitchFamily="34" charset="-122"/>
                <a:cs typeface="Calibri" pitchFamily="34" charset="-120"/>
              </a:rPr>
              <a:t>Scale</a:t>
            </a:r>
            <a:endParaRPr lang="en-US" sz="1550" dirty="0"/>
          </a:p>
        </p:txBody>
      </p:sp>
      <p:sp>
        <p:nvSpPr>
          <p:cNvPr id="23" name="Text 21"/>
          <p:cNvSpPr/>
          <p:nvPr/>
        </p:nvSpPr>
        <p:spPr>
          <a:xfrm>
            <a:off x="9198864" y="3611880"/>
            <a:ext cx="2487168" cy="2011680"/>
          </a:xfrm>
          <a:prstGeom prst="rect">
            <a:avLst/>
          </a:prstGeom>
          <a:noFill/>
          <a:ln/>
        </p:spPr>
        <p:txBody>
          <a:bodyPr wrap="square" lIns="0" tIns="0" rIns="0" bIns="0" rtlCol="0" anchor="ctr"/>
          <a:lstStyle/>
          <a:p>
            <a:pPr algn="ctr" indent="0" marL="0">
              <a:buNone/>
            </a:pPr>
            <a:r>
              <a:rPr lang="en-US" sz="1150" dirty="0">
                <a:solidFill>
                  <a:srgbClr val="4A584C"/>
                </a:solidFill>
                <a:latin typeface="Calibri" pitchFamily="34" charset="0"/>
                <a:ea typeface="Calibri" pitchFamily="34" charset="-122"/>
                <a:cs typeface="Calibri" pitchFamily="34" charset="-120"/>
              </a:rPr>
              <a:t>M-PESA Daraja disbursement · micro-insurance · 10,000 farmers · Series-seed raise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61A"/>
        </a:solidFill>
      </p:bgPr>
    </p:bg>
    <p:spTree>
      <p:nvGrpSpPr>
        <p:cNvPr id="1" name=""/>
        <p:cNvGrpSpPr/>
        <p:nvPr/>
      </p:nvGrpSpPr>
      <p:grpSpPr>
        <a:xfrm>
          <a:off x="0" y="0"/>
          <a:ext cx="0" cy="0"/>
          <a:chOff x="0" y="0"/>
          <a:chExt cx="0" cy="0"/>
        </a:xfrm>
      </p:grpSpPr>
      <p:sp>
        <p:nvSpPr>
          <p:cNvPr id="2" name="Text 0"/>
          <p:cNvSpPr/>
          <p:nvPr/>
        </p:nvSpPr>
        <p:spPr>
          <a:xfrm>
            <a:off x="594360" y="822960"/>
            <a:ext cx="1097280" cy="1005840"/>
          </a:xfrm>
          <a:prstGeom prst="rect">
            <a:avLst/>
          </a:prstGeom>
          <a:noFill/>
          <a:ln/>
        </p:spPr>
        <p:txBody>
          <a:bodyPr wrap="square" lIns="0" tIns="0" rIns="0" bIns="0" rtlCol="0" anchor="ctr"/>
          <a:lstStyle/>
          <a:p>
            <a:pPr indent="0" marL="0">
              <a:buNone/>
            </a:pPr>
            <a:r>
              <a:rPr lang="en-US" sz="4400" dirty="0">
                <a:solidFill>
                  <a:srgbClr val="000000"/>
                </a:solidFill>
              </a:rPr>
              <a:t>🌾</a:t>
            </a:r>
            <a:endParaRPr lang="en-US" sz="4400" dirty="0"/>
          </a:p>
        </p:txBody>
      </p:sp>
      <p:sp>
        <p:nvSpPr>
          <p:cNvPr id="3" name="Text 1"/>
          <p:cNvSpPr/>
          <p:nvPr/>
        </p:nvSpPr>
        <p:spPr>
          <a:xfrm>
            <a:off x="548640" y="1965960"/>
            <a:ext cx="11064240" cy="777240"/>
          </a:xfrm>
          <a:prstGeom prst="rect">
            <a:avLst/>
          </a:prstGeom>
          <a:noFill/>
          <a:ln/>
        </p:spPr>
        <p:txBody>
          <a:bodyPr wrap="square" lIns="0" tIns="0" rIns="0" bIns="0" rtlCol="0" anchor="ctr"/>
          <a:lstStyle/>
          <a:p>
            <a:pPr indent="0" marL="0">
              <a:buNone/>
            </a:pPr>
            <a:r>
              <a:rPr lang="en-US" sz="4000" b="1" dirty="0">
                <a:solidFill>
                  <a:srgbClr val="F2ECD9"/>
                </a:solidFill>
                <a:latin typeface="Bookman Old Style" pitchFamily="34" charset="0"/>
                <a:ea typeface="Bookman Old Style" pitchFamily="34" charset="-122"/>
                <a:cs typeface="Bookman Old Style" pitchFamily="34" charset="-120"/>
              </a:rPr>
              <a:t>Amina fed Kenya for five seasons.</a:t>
            </a:r>
            <a:endParaRPr lang="en-US" sz="4000" dirty="0"/>
          </a:p>
        </p:txBody>
      </p:sp>
      <p:sp>
        <p:nvSpPr>
          <p:cNvPr id="4" name="Text 2"/>
          <p:cNvSpPr/>
          <p:nvPr/>
        </p:nvSpPr>
        <p:spPr>
          <a:xfrm>
            <a:off x="548640" y="2788920"/>
            <a:ext cx="11064240" cy="777240"/>
          </a:xfrm>
          <a:prstGeom prst="rect">
            <a:avLst/>
          </a:prstGeom>
          <a:noFill/>
          <a:ln/>
        </p:spPr>
        <p:txBody>
          <a:bodyPr wrap="square" lIns="0" tIns="0" rIns="0" bIns="0" rtlCol="0" anchor="ctr"/>
          <a:lstStyle/>
          <a:p>
            <a:pPr indent="0" marL="0">
              <a:buNone/>
            </a:pPr>
            <a:r>
              <a:rPr lang="en-US" sz="4000" b="1" dirty="0">
                <a:solidFill>
                  <a:srgbClr val="F2ECD9"/>
                </a:solidFill>
                <a:latin typeface="Bookman Old Style" pitchFamily="34" charset="0"/>
                <a:ea typeface="Bookman Old Style" pitchFamily="34" charset="-122"/>
                <a:cs typeface="Bookman Old Style" pitchFamily="34" charset="-120"/>
              </a:rPr>
              <a:t>Starting today, Kenya can </a:t>
            </a:r>
            <a:pPr indent="0" marL="0">
              <a:buNone/>
            </a:pPr>
            <a:r>
              <a:rPr lang="en-US" sz="4000" b="1" i="1" dirty="0">
                <a:solidFill>
                  <a:srgbClr val="F0A828"/>
                </a:solidFill>
                <a:latin typeface="Bookman Old Style" pitchFamily="34" charset="0"/>
                <a:ea typeface="Bookman Old Style" pitchFamily="34" charset="-122"/>
                <a:cs typeface="Bookman Old Style" pitchFamily="34" charset="-120"/>
              </a:rPr>
              <a:t>bank on her.</a:t>
            </a:r>
            <a:endParaRPr lang="en-US" sz="4000" dirty="0"/>
          </a:p>
        </p:txBody>
      </p:sp>
      <p:sp>
        <p:nvSpPr>
          <p:cNvPr id="5" name="Text 3"/>
          <p:cNvSpPr/>
          <p:nvPr/>
        </p:nvSpPr>
        <p:spPr>
          <a:xfrm>
            <a:off x="548640" y="3977640"/>
            <a:ext cx="11064240" cy="457200"/>
          </a:xfrm>
          <a:prstGeom prst="rect">
            <a:avLst/>
          </a:prstGeom>
          <a:noFill/>
          <a:ln/>
        </p:spPr>
        <p:txBody>
          <a:bodyPr wrap="square" lIns="0" tIns="0" rIns="0" bIns="0" rtlCol="0" anchor="ctr"/>
          <a:lstStyle/>
          <a:p>
            <a:pPr indent="0" marL="0">
              <a:buNone/>
            </a:pPr>
            <a:r>
              <a:rPr lang="en-US" sz="1800" dirty="0">
                <a:solidFill>
                  <a:srgbClr val="BDB79F"/>
                </a:solidFill>
                <a:latin typeface="Calibri" pitchFamily="34" charset="0"/>
                <a:ea typeface="Calibri" pitchFamily="34" charset="-122"/>
                <a:cs typeface="Calibri" pitchFamily="34" charset="-120"/>
              </a:rPr>
              <a:t>MavunoAI — turning harvests into credit history.</a:t>
            </a:r>
            <a:endParaRPr lang="en-US" sz="1800" dirty="0"/>
          </a:p>
        </p:txBody>
      </p:sp>
      <p:sp>
        <p:nvSpPr>
          <p:cNvPr id="6" name="Text 4"/>
          <p:cNvSpPr/>
          <p:nvPr/>
        </p:nvSpPr>
        <p:spPr>
          <a:xfrm>
            <a:off x="548640" y="4892040"/>
            <a:ext cx="2743200" cy="320040"/>
          </a:xfrm>
          <a:prstGeom prst="rect">
            <a:avLst/>
          </a:prstGeom>
          <a:noFill/>
          <a:ln/>
        </p:spPr>
        <p:txBody>
          <a:bodyPr wrap="square" lIns="0" tIns="0" rIns="0" bIns="0" rtlCol="0" anchor="ctr"/>
          <a:lstStyle/>
          <a:p>
            <a:pPr indent="0" marL="0">
              <a:buNone/>
            </a:pPr>
            <a:r>
              <a:rPr lang="en-US" sz="1200" b="1" spc="300" kern="0" dirty="0">
                <a:solidFill>
                  <a:srgbClr val="F0A828"/>
                </a:solidFill>
                <a:latin typeface="Calibri" pitchFamily="34" charset="0"/>
                <a:ea typeface="Calibri" pitchFamily="34" charset="-122"/>
                <a:cs typeface="Calibri" pitchFamily="34" charset="-120"/>
              </a:rPr>
              <a:t>THE ASK</a:t>
            </a:r>
            <a:endParaRPr lang="en-US" sz="1200" dirty="0"/>
          </a:p>
        </p:txBody>
      </p:sp>
      <p:sp>
        <p:nvSpPr>
          <p:cNvPr id="7" name="Text 5"/>
          <p:cNvSpPr/>
          <p:nvPr/>
        </p:nvSpPr>
        <p:spPr>
          <a:xfrm>
            <a:off x="548640" y="5212080"/>
            <a:ext cx="11064240" cy="457200"/>
          </a:xfrm>
          <a:prstGeom prst="rect">
            <a:avLst/>
          </a:prstGeom>
          <a:noFill/>
          <a:ln/>
        </p:spPr>
        <p:txBody>
          <a:bodyPr wrap="square" lIns="0" tIns="0" rIns="0" bIns="0" rtlCol="0" anchor="ctr"/>
          <a:lstStyle/>
          <a:p>
            <a:pPr indent="0" marL="0">
              <a:buNone/>
            </a:pPr>
            <a:r>
              <a:rPr lang="en-US" sz="1600" dirty="0">
                <a:solidFill>
                  <a:srgbClr val="F2ECD9"/>
                </a:solidFill>
                <a:latin typeface="Calibri" pitchFamily="34" charset="0"/>
                <a:ea typeface="Calibri" pitchFamily="34" charset="-122"/>
                <a:cs typeface="Calibri" pitchFamily="34" charset="-120"/>
              </a:rPr>
              <a:t>A pilot introduction to one farmers' cooperative and one SACCO — we will do the rest.</a:t>
            </a:r>
            <a:endParaRPr lang="en-US" sz="1600" dirty="0"/>
          </a:p>
        </p:txBody>
      </p:sp>
      <p:sp>
        <p:nvSpPr>
          <p:cNvPr id="8" name="Text 6"/>
          <p:cNvSpPr/>
          <p:nvPr/>
        </p:nvSpPr>
        <p:spPr>
          <a:xfrm>
            <a:off x="548640" y="6035040"/>
            <a:ext cx="11064240" cy="411480"/>
          </a:xfrm>
          <a:prstGeom prst="rect">
            <a:avLst/>
          </a:prstGeom>
          <a:noFill/>
          <a:ln/>
        </p:spPr>
        <p:txBody>
          <a:bodyPr wrap="square" lIns="0" tIns="0" rIns="0" bIns="0" rtlCol="0" anchor="ctr"/>
          <a:lstStyle/>
          <a:p>
            <a:pPr indent="0" marL="0">
              <a:buNone/>
            </a:pPr>
            <a:r>
              <a:rPr lang="en-US" sz="1400" i="1" dirty="0">
                <a:solidFill>
                  <a:srgbClr val="BDB79F"/>
                </a:solidFill>
                <a:latin typeface="Calibri" pitchFamily="34" charset="0"/>
                <a:ea typeface="Calibri" pitchFamily="34" charset="-122"/>
                <a:cs typeface="Calibri" pitchFamily="34" charset="-120"/>
              </a:rPr>
              <a:t>Asante sana. Questions karibu.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2026-07-17T07:02:00Z</dcterms:created>
  <dcterms:modified xsi:type="dcterms:W3CDTF">2026-07-17T07:02:00Z</dcterms:modified>
</cp:coreProperties>
</file>